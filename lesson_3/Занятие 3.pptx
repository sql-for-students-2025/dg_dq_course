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59" r:id="rId2"/>
    <p:sldId id="352" r:id="rId3"/>
    <p:sldId id="318" r:id="rId4"/>
    <p:sldId id="360" r:id="rId5"/>
    <p:sldId id="361" r:id="rId6"/>
    <p:sldId id="362" r:id="rId7"/>
    <p:sldId id="363" r:id="rId8"/>
    <p:sldId id="364" r:id="rId9"/>
    <p:sldId id="357" r:id="rId10"/>
    <p:sldId id="34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C7271-601D-4DF9-9DCA-344C59B46CBF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FF03C-7020-43D7-8FC9-180DF305C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810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FF03C-7020-43D7-8FC9-180DF305CFE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450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FF03C-7020-43D7-8FC9-180DF305CFE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178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FF03C-7020-43D7-8FC9-180DF305CFE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199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Выборки и фильтрация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FF03C-7020-43D7-8FC9-180DF305CFE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927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Выборки и фильтрация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FF03C-7020-43D7-8FC9-180DF305CFE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098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Выборки и фильтрация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FF03C-7020-43D7-8FC9-180DF305CFE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709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Выборки и фильтрация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FF03C-7020-43D7-8FC9-180DF305CFE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584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ловок+ рисунок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2B4EE6E3-AF88-DDDA-D09E-15C1D87550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14159" y="977030"/>
            <a:ext cx="5006366" cy="5217770"/>
          </a:xfrm>
          <a:custGeom>
            <a:avLst/>
            <a:gdLst>
              <a:gd name="connsiteX0" fmla="*/ 233146 w 5006366"/>
              <a:gd name="connsiteY0" fmla="*/ 0 h 5549030"/>
              <a:gd name="connsiteX1" fmla="*/ 4773220 w 5006366"/>
              <a:gd name="connsiteY1" fmla="*/ 0 h 5549030"/>
              <a:gd name="connsiteX2" fmla="*/ 5006366 w 5006366"/>
              <a:gd name="connsiteY2" fmla="*/ 233146 h 5549030"/>
              <a:gd name="connsiteX3" fmla="*/ 5006366 w 5006366"/>
              <a:gd name="connsiteY3" fmla="*/ 5315884 h 5549030"/>
              <a:gd name="connsiteX4" fmla="*/ 4773220 w 5006366"/>
              <a:gd name="connsiteY4" fmla="*/ 5549030 h 5549030"/>
              <a:gd name="connsiteX5" fmla="*/ 233146 w 5006366"/>
              <a:gd name="connsiteY5" fmla="*/ 5549030 h 5549030"/>
              <a:gd name="connsiteX6" fmla="*/ 0 w 5006366"/>
              <a:gd name="connsiteY6" fmla="*/ 5315884 h 5549030"/>
              <a:gd name="connsiteX7" fmla="*/ 0 w 5006366"/>
              <a:gd name="connsiteY7" fmla="*/ 233146 h 5549030"/>
              <a:gd name="connsiteX8" fmla="*/ 233146 w 5006366"/>
              <a:gd name="connsiteY8" fmla="*/ 0 h 554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6366" h="5549030">
                <a:moveTo>
                  <a:pt x="233146" y="0"/>
                </a:moveTo>
                <a:lnTo>
                  <a:pt x="4773220" y="0"/>
                </a:lnTo>
                <a:cubicBezTo>
                  <a:pt x="4901983" y="0"/>
                  <a:pt x="5006366" y="104383"/>
                  <a:pt x="5006366" y="233146"/>
                </a:cubicBezTo>
                <a:lnTo>
                  <a:pt x="5006366" y="5315884"/>
                </a:lnTo>
                <a:cubicBezTo>
                  <a:pt x="5006366" y="5444647"/>
                  <a:pt x="4901983" y="5549030"/>
                  <a:pt x="4773220" y="5549030"/>
                </a:cubicBezTo>
                <a:lnTo>
                  <a:pt x="233146" y="5549030"/>
                </a:lnTo>
                <a:cubicBezTo>
                  <a:pt x="104383" y="5549030"/>
                  <a:pt x="0" y="5444647"/>
                  <a:pt x="0" y="5315884"/>
                </a:cubicBezTo>
                <a:lnTo>
                  <a:pt x="0" y="233146"/>
                </a:lnTo>
                <a:cubicBezTo>
                  <a:pt x="0" y="104383"/>
                  <a:pt x="104383" y="0"/>
                  <a:pt x="233146" y="0"/>
                </a:cubicBezTo>
                <a:close/>
              </a:path>
            </a:pathLst>
          </a:custGeom>
          <a:ln w="19050">
            <a:solidFill>
              <a:srgbClr val="FFF654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9D54ED-6100-2AE2-44D3-3FBF40D4B78C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56D976-7CC1-9686-0F06-FCA772F2517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2079E93-C969-E4A2-381C-8137ABD932F6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2FF0FB04-4B68-2831-0DAB-A017CA788FD5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05AC7EB7-BE06-A997-B000-D1F19539BE99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7F98DD0F-340B-9C59-6BBC-A959CEF5845C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50F1D4C6-65C7-7768-EB62-97032AA0C758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6E0D7566-CBD5-5F33-25DB-7EDB4C1B943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F23540EC-3531-E5FB-516B-9FDA9073367A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F28BCF0-AB96-AF0F-7D93-35029978176B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4541060A-82E3-D711-496D-66B48945AF33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BE1A0F03-3BD3-2A53-86DF-3C018DDFD99C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01DC482-6C44-D5D1-74E4-48F30614EE08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81DB554-4CD2-5A37-4BDA-DB3B60FB0535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9" name="Полилиния 18">
            <a:extLst>
              <a:ext uri="{FF2B5EF4-FFF2-40B4-BE49-F238E27FC236}">
                <a16:creationId xmlns:a16="http://schemas.microsoft.com/office/drawing/2014/main" id="{B71710D9-5000-80EB-82DA-E4E405F15A03}"/>
              </a:ext>
            </a:extLst>
          </p:cNvPr>
          <p:cNvSpPr/>
          <p:nvPr userDrawn="1"/>
        </p:nvSpPr>
        <p:spPr>
          <a:xfrm>
            <a:off x="6059329" y="300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0" name="Полилиния 19">
            <a:extLst>
              <a:ext uri="{FF2B5EF4-FFF2-40B4-BE49-F238E27FC236}">
                <a16:creationId xmlns:a16="http://schemas.microsoft.com/office/drawing/2014/main" id="{EB521677-7ACA-798D-B3D7-9DF8F004AA53}"/>
              </a:ext>
            </a:extLst>
          </p:cNvPr>
          <p:cNvSpPr/>
          <p:nvPr userDrawn="1"/>
        </p:nvSpPr>
        <p:spPr>
          <a:xfrm>
            <a:off x="7138785" y="314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1" name="Полилиния 20">
            <a:extLst>
              <a:ext uri="{FF2B5EF4-FFF2-40B4-BE49-F238E27FC236}">
                <a16:creationId xmlns:a16="http://schemas.microsoft.com/office/drawing/2014/main" id="{FC7AE11D-70F3-DE95-59A7-6D153CACC950}"/>
              </a:ext>
            </a:extLst>
          </p:cNvPr>
          <p:cNvSpPr/>
          <p:nvPr userDrawn="1"/>
        </p:nvSpPr>
        <p:spPr>
          <a:xfrm>
            <a:off x="8170896" y="301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B5880652-F6FC-A87D-AF2C-8F0F2CC6DD9C}"/>
              </a:ext>
            </a:extLst>
          </p:cNvPr>
          <p:cNvSpPr/>
          <p:nvPr userDrawn="1"/>
        </p:nvSpPr>
        <p:spPr>
          <a:xfrm rot="5400000">
            <a:off x="9468333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667E032D-27E4-95DC-C30F-D8F574F20267}"/>
              </a:ext>
            </a:extLst>
          </p:cNvPr>
          <p:cNvSpPr/>
          <p:nvPr userDrawn="1"/>
        </p:nvSpPr>
        <p:spPr>
          <a:xfrm rot="5400000">
            <a:off x="9468333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F9686EEA-E1CB-F0BD-3217-CCB166F01077}"/>
              </a:ext>
            </a:extLst>
          </p:cNvPr>
          <p:cNvSpPr/>
          <p:nvPr userDrawn="1"/>
        </p:nvSpPr>
        <p:spPr>
          <a:xfrm>
            <a:off x="10313141" y="302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5" name="Полилиния 44">
            <a:extLst>
              <a:ext uri="{FF2B5EF4-FFF2-40B4-BE49-F238E27FC236}">
                <a16:creationId xmlns:a16="http://schemas.microsoft.com/office/drawing/2014/main" id="{65D007B7-2EC6-8DD0-5DE0-9A7C6F4BC4E6}"/>
              </a:ext>
            </a:extLst>
          </p:cNvPr>
          <p:cNvSpPr/>
          <p:nvPr userDrawn="1"/>
        </p:nvSpPr>
        <p:spPr>
          <a:xfrm rot="5400000">
            <a:off x="6416161" y="1214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6" name="Полилиния 45">
            <a:extLst>
              <a:ext uri="{FF2B5EF4-FFF2-40B4-BE49-F238E27FC236}">
                <a16:creationId xmlns:a16="http://schemas.microsoft.com/office/drawing/2014/main" id="{01637A07-C3CB-115D-07A5-84F103254223}"/>
              </a:ext>
            </a:extLst>
          </p:cNvPr>
          <p:cNvSpPr/>
          <p:nvPr userDrawn="1"/>
        </p:nvSpPr>
        <p:spPr>
          <a:xfrm rot="5400000">
            <a:off x="6416161" y="1666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7" name="Полилиния 46">
            <a:extLst>
              <a:ext uri="{FF2B5EF4-FFF2-40B4-BE49-F238E27FC236}">
                <a16:creationId xmlns:a16="http://schemas.microsoft.com/office/drawing/2014/main" id="{BE1EB756-A5E8-D426-BF57-70326BFCBF52}"/>
              </a:ext>
            </a:extLst>
          </p:cNvPr>
          <p:cNvSpPr/>
          <p:nvPr userDrawn="1"/>
        </p:nvSpPr>
        <p:spPr>
          <a:xfrm>
            <a:off x="7260970" y="1428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B8A825C2-3235-C8A2-4E5C-A2CD7335CE41}"/>
              </a:ext>
            </a:extLst>
          </p:cNvPr>
          <p:cNvSpPr/>
          <p:nvPr userDrawn="1"/>
        </p:nvSpPr>
        <p:spPr>
          <a:xfrm>
            <a:off x="9274499" y="1429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AAA2E5FA-D2D1-6DE0-0FB2-50EEB9146011}"/>
              </a:ext>
            </a:extLst>
          </p:cNvPr>
          <p:cNvSpPr/>
          <p:nvPr userDrawn="1"/>
        </p:nvSpPr>
        <p:spPr>
          <a:xfrm>
            <a:off x="10336066" y="1429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DF8FBF4F-20D4-2A87-C3DF-A623132EDCB0}"/>
              </a:ext>
            </a:extLst>
          </p:cNvPr>
          <p:cNvSpPr/>
          <p:nvPr userDrawn="1"/>
        </p:nvSpPr>
        <p:spPr>
          <a:xfrm>
            <a:off x="11201513" y="1429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7" name="Полилиния 56">
            <a:extLst>
              <a:ext uri="{FF2B5EF4-FFF2-40B4-BE49-F238E27FC236}">
                <a16:creationId xmlns:a16="http://schemas.microsoft.com/office/drawing/2014/main" id="{ED7CDC0A-88AB-9150-78E9-8360286E9BCB}"/>
              </a:ext>
            </a:extLst>
          </p:cNvPr>
          <p:cNvSpPr/>
          <p:nvPr userDrawn="1"/>
        </p:nvSpPr>
        <p:spPr>
          <a:xfrm>
            <a:off x="6125307" y="2551363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8" name="Полилиния 57">
            <a:extLst>
              <a:ext uri="{FF2B5EF4-FFF2-40B4-BE49-F238E27FC236}">
                <a16:creationId xmlns:a16="http://schemas.microsoft.com/office/drawing/2014/main" id="{D1E8AAAD-C779-143D-828B-22B2113D0953}"/>
              </a:ext>
            </a:extLst>
          </p:cNvPr>
          <p:cNvSpPr/>
          <p:nvPr userDrawn="1"/>
        </p:nvSpPr>
        <p:spPr>
          <a:xfrm>
            <a:off x="7204763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9" name="Полилиния 58">
            <a:extLst>
              <a:ext uri="{FF2B5EF4-FFF2-40B4-BE49-F238E27FC236}">
                <a16:creationId xmlns:a16="http://schemas.microsoft.com/office/drawing/2014/main" id="{8FCE0B0E-5D5E-C054-F5DF-0C799D1D2ACD}"/>
              </a:ext>
            </a:extLst>
          </p:cNvPr>
          <p:cNvSpPr/>
          <p:nvPr userDrawn="1"/>
        </p:nvSpPr>
        <p:spPr>
          <a:xfrm>
            <a:off x="8236874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0" name="Полилиния 59">
            <a:extLst>
              <a:ext uri="{FF2B5EF4-FFF2-40B4-BE49-F238E27FC236}">
                <a16:creationId xmlns:a16="http://schemas.microsoft.com/office/drawing/2014/main" id="{BBF42A67-A4AF-C571-0E87-7B690FCF62F4}"/>
              </a:ext>
            </a:extLst>
          </p:cNvPr>
          <p:cNvSpPr/>
          <p:nvPr userDrawn="1"/>
        </p:nvSpPr>
        <p:spPr>
          <a:xfrm rot="5400000">
            <a:off x="9534311" y="233911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18827D43-F7CC-842B-CE52-CE297463F98B}"/>
              </a:ext>
            </a:extLst>
          </p:cNvPr>
          <p:cNvSpPr/>
          <p:nvPr userDrawn="1"/>
        </p:nvSpPr>
        <p:spPr>
          <a:xfrm rot="5400000">
            <a:off x="9534311" y="2790999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AEA31EE0-2696-FF64-5357-40266C8385EE}"/>
              </a:ext>
            </a:extLst>
          </p:cNvPr>
          <p:cNvSpPr/>
          <p:nvPr userDrawn="1"/>
        </p:nvSpPr>
        <p:spPr>
          <a:xfrm>
            <a:off x="10379120" y="255347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9" name="Полилиния 68">
            <a:extLst>
              <a:ext uri="{FF2B5EF4-FFF2-40B4-BE49-F238E27FC236}">
                <a16:creationId xmlns:a16="http://schemas.microsoft.com/office/drawing/2014/main" id="{98539B6A-FAC6-ED68-EA9C-F2AE50E85AFA}"/>
              </a:ext>
            </a:extLst>
          </p:cNvPr>
          <p:cNvSpPr/>
          <p:nvPr userDrawn="1"/>
        </p:nvSpPr>
        <p:spPr>
          <a:xfrm rot="5400000">
            <a:off x="6416161" y="3390462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0" name="Полилиния 69">
            <a:extLst>
              <a:ext uri="{FF2B5EF4-FFF2-40B4-BE49-F238E27FC236}">
                <a16:creationId xmlns:a16="http://schemas.microsoft.com/office/drawing/2014/main" id="{27A83EEE-6701-E5BE-4471-D6708AB28A14}"/>
              </a:ext>
            </a:extLst>
          </p:cNvPr>
          <p:cNvSpPr/>
          <p:nvPr userDrawn="1"/>
        </p:nvSpPr>
        <p:spPr>
          <a:xfrm rot="5400000">
            <a:off x="6416161" y="3842350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1" name="Полилиния 70">
            <a:extLst>
              <a:ext uri="{FF2B5EF4-FFF2-40B4-BE49-F238E27FC236}">
                <a16:creationId xmlns:a16="http://schemas.microsoft.com/office/drawing/2014/main" id="{998F0B30-210B-A885-15A4-9B9A2CC80748}"/>
              </a:ext>
            </a:extLst>
          </p:cNvPr>
          <p:cNvSpPr/>
          <p:nvPr userDrawn="1"/>
        </p:nvSpPr>
        <p:spPr>
          <a:xfrm>
            <a:off x="7260970" y="3604828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2" name="Полилиния 71">
            <a:extLst>
              <a:ext uri="{FF2B5EF4-FFF2-40B4-BE49-F238E27FC236}">
                <a16:creationId xmlns:a16="http://schemas.microsoft.com/office/drawing/2014/main" id="{108740CC-3FD2-F420-F0CC-A88E00F590EF}"/>
              </a:ext>
            </a:extLst>
          </p:cNvPr>
          <p:cNvSpPr/>
          <p:nvPr userDrawn="1"/>
        </p:nvSpPr>
        <p:spPr>
          <a:xfrm>
            <a:off x="9274499" y="3606110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3" name="Полилиния 72">
            <a:extLst>
              <a:ext uri="{FF2B5EF4-FFF2-40B4-BE49-F238E27FC236}">
                <a16:creationId xmlns:a16="http://schemas.microsoft.com/office/drawing/2014/main" id="{1D1FE4B8-F38E-510B-1D7A-26CD8CF9750D}"/>
              </a:ext>
            </a:extLst>
          </p:cNvPr>
          <p:cNvSpPr/>
          <p:nvPr userDrawn="1"/>
        </p:nvSpPr>
        <p:spPr>
          <a:xfrm>
            <a:off x="10336066" y="3606132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4" name="Полилиния 73">
            <a:extLst>
              <a:ext uri="{FF2B5EF4-FFF2-40B4-BE49-F238E27FC236}">
                <a16:creationId xmlns:a16="http://schemas.microsoft.com/office/drawing/2014/main" id="{80B8C87D-5992-1461-154B-33369FDE3496}"/>
              </a:ext>
            </a:extLst>
          </p:cNvPr>
          <p:cNvSpPr/>
          <p:nvPr userDrawn="1"/>
        </p:nvSpPr>
        <p:spPr>
          <a:xfrm>
            <a:off x="11201513" y="3606131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1" name="Полилиния 80">
            <a:extLst>
              <a:ext uri="{FF2B5EF4-FFF2-40B4-BE49-F238E27FC236}">
                <a16:creationId xmlns:a16="http://schemas.microsoft.com/office/drawing/2014/main" id="{63AD56DB-1133-5816-70C7-4D8288DF2CE3}"/>
              </a:ext>
            </a:extLst>
          </p:cNvPr>
          <p:cNvSpPr/>
          <p:nvPr userDrawn="1"/>
        </p:nvSpPr>
        <p:spPr>
          <a:xfrm>
            <a:off x="6059329" y="4618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2" name="Полилиния 81">
            <a:extLst>
              <a:ext uri="{FF2B5EF4-FFF2-40B4-BE49-F238E27FC236}">
                <a16:creationId xmlns:a16="http://schemas.microsoft.com/office/drawing/2014/main" id="{234167F8-112D-922E-DDFF-0E7EE38CD87D}"/>
              </a:ext>
            </a:extLst>
          </p:cNvPr>
          <p:cNvSpPr/>
          <p:nvPr userDrawn="1"/>
        </p:nvSpPr>
        <p:spPr>
          <a:xfrm>
            <a:off x="7138785" y="4632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3" name="Полилиния 82">
            <a:extLst>
              <a:ext uri="{FF2B5EF4-FFF2-40B4-BE49-F238E27FC236}">
                <a16:creationId xmlns:a16="http://schemas.microsoft.com/office/drawing/2014/main" id="{5F70E7A4-9B0D-7FC0-F165-C3F11FEA4AAD}"/>
              </a:ext>
            </a:extLst>
          </p:cNvPr>
          <p:cNvSpPr/>
          <p:nvPr userDrawn="1"/>
        </p:nvSpPr>
        <p:spPr>
          <a:xfrm>
            <a:off x="8170896" y="4619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4" name="Полилиния 83">
            <a:extLst>
              <a:ext uri="{FF2B5EF4-FFF2-40B4-BE49-F238E27FC236}">
                <a16:creationId xmlns:a16="http://schemas.microsoft.com/office/drawing/2014/main" id="{CBA0A953-9D66-C9DF-E869-39B7CF15C8EE}"/>
              </a:ext>
            </a:extLst>
          </p:cNvPr>
          <p:cNvSpPr/>
          <p:nvPr userDrawn="1"/>
        </p:nvSpPr>
        <p:spPr>
          <a:xfrm rot="5400000">
            <a:off x="9468333" y="4406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2F8A2BFF-8199-C49F-32C2-F02A0F36E5D7}"/>
              </a:ext>
            </a:extLst>
          </p:cNvPr>
          <p:cNvSpPr/>
          <p:nvPr userDrawn="1"/>
        </p:nvSpPr>
        <p:spPr>
          <a:xfrm rot="5400000">
            <a:off x="9468333" y="4858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AE035941-6B4D-88F6-6604-BAD90612AA7D}"/>
              </a:ext>
            </a:extLst>
          </p:cNvPr>
          <p:cNvSpPr/>
          <p:nvPr userDrawn="1"/>
        </p:nvSpPr>
        <p:spPr>
          <a:xfrm>
            <a:off x="10313141" y="4620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EFEAF20A-7C93-A9E8-9BA1-25242F8739BE}"/>
              </a:ext>
            </a:extLst>
          </p:cNvPr>
          <p:cNvSpPr/>
          <p:nvPr userDrawn="1"/>
        </p:nvSpPr>
        <p:spPr>
          <a:xfrm rot="5400000">
            <a:off x="6416161" y="5532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4051F98-B824-DA6E-B161-16534E2CDB60}"/>
              </a:ext>
            </a:extLst>
          </p:cNvPr>
          <p:cNvSpPr/>
          <p:nvPr userDrawn="1"/>
        </p:nvSpPr>
        <p:spPr>
          <a:xfrm rot="5400000">
            <a:off x="6416161" y="5984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FE60269F-0694-6311-A4E1-B7B375BBBD2C}"/>
              </a:ext>
            </a:extLst>
          </p:cNvPr>
          <p:cNvSpPr/>
          <p:nvPr userDrawn="1"/>
        </p:nvSpPr>
        <p:spPr>
          <a:xfrm>
            <a:off x="7260970" y="5746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CFDEE74C-4488-0A8E-20A2-6760919CF396}"/>
              </a:ext>
            </a:extLst>
          </p:cNvPr>
          <p:cNvSpPr/>
          <p:nvPr userDrawn="1"/>
        </p:nvSpPr>
        <p:spPr>
          <a:xfrm>
            <a:off x="9274499" y="5747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EFDF8DA6-AB7D-55B6-136B-3FE9E54B517E}"/>
              </a:ext>
            </a:extLst>
          </p:cNvPr>
          <p:cNvSpPr/>
          <p:nvPr userDrawn="1"/>
        </p:nvSpPr>
        <p:spPr>
          <a:xfrm>
            <a:off x="10336066" y="5747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CAE54391-B254-6D7F-CFDE-C3D1C029AA52}"/>
              </a:ext>
            </a:extLst>
          </p:cNvPr>
          <p:cNvSpPr/>
          <p:nvPr userDrawn="1"/>
        </p:nvSpPr>
        <p:spPr>
          <a:xfrm>
            <a:off x="11201513" y="5747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97FED8FB-2EB0-0EA4-FC4E-627BDE29ED9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4" name="Текст 47">
            <a:extLst>
              <a:ext uri="{FF2B5EF4-FFF2-40B4-BE49-F238E27FC236}">
                <a16:creationId xmlns:a16="http://schemas.microsoft.com/office/drawing/2014/main" id="{1BFB37B9-D655-8460-080C-8ECE8BB0EC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70" y="2983550"/>
            <a:ext cx="5864638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5" name="Текст 49">
            <a:extLst>
              <a:ext uri="{FF2B5EF4-FFF2-40B4-BE49-F238E27FC236}">
                <a16:creationId xmlns:a16="http://schemas.microsoft.com/office/drawing/2014/main" id="{3045662F-B4C9-05B0-C43D-FD906561C4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397313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392453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10974E-30D5-E715-3C79-B1960E905E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906" y="5476251"/>
            <a:ext cx="968249" cy="878825"/>
          </a:xfrm>
        </p:spPr>
      </p:pic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6" y="1452638"/>
            <a:ext cx="11561058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Data Governance &amp; </a:t>
            </a:r>
            <a:r>
              <a:rPr lang="en-US" dirty="0">
                <a:solidFill>
                  <a:srgbClr val="FF0000"/>
                </a:solidFill>
              </a:rPr>
              <a:t>Data Quality</a:t>
            </a:r>
            <a:endParaRPr lang="ru-RS" dirty="0">
              <a:solidFill>
                <a:srgbClr val="FF0000"/>
              </a:solidFill>
            </a:endParaRPr>
          </a:p>
          <a:p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6" y="2189898"/>
            <a:ext cx="5836914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dirty="0"/>
              <a:t>Ликбез по Python: Основы </a:t>
            </a:r>
            <a:r>
              <a:rPr lang="en-US" dirty="0"/>
              <a:t>Pandas</a:t>
            </a:r>
            <a:endParaRPr lang="ru-RS" dirty="0"/>
          </a:p>
        </p:txBody>
      </p:sp>
      <p:sp>
        <p:nvSpPr>
          <p:cNvPr id="3" name="Текст 6">
            <a:extLst>
              <a:ext uri="{FF2B5EF4-FFF2-40B4-BE49-F238E27FC236}">
                <a16:creationId xmlns:a16="http://schemas.microsoft.com/office/drawing/2014/main" id="{26084C87-6441-49C2-9768-69B924992F0E}"/>
              </a:ext>
            </a:extLst>
          </p:cNvPr>
          <p:cNvSpPr txBox="1">
            <a:spLocks/>
          </p:cNvSpPr>
          <p:nvPr/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12</a:t>
            </a:r>
            <a:r>
              <a:rPr lang="ru-RS" dirty="0"/>
              <a:t>/0</a:t>
            </a:r>
            <a:r>
              <a:rPr lang="ru-RU" dirty="0"/>
              <a:t>2</a:t>
            </a:r>
            <a:r>
              <a:rPr lang="ru-RS" dirty="0"/>
              <a:t>/202</a:t>
            </a:r>
            <a:r>
              <a:rPr lang="ru-RU" dirty="0"/>
              <a:t>6</a:t>
            </a:r>
            <a:endParaRPr lang="ru-R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5C364C6C-FA1E-48B4-BD75-D2450E2124F0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Гальбинский</a:t>
            </a:r>
          </a:p>
        </p:txBody>
      </p:sp>
      <p:sp>
        <p:nvSpPr>
          <p:cNvPr id="13" name="Текст 7">
            <a:extLst>
              <a:ext uri="{FF2B5EF4-FFF2-40B4-BE49-F238E27FC236}">
                <a16:creationId xmlns:a16="http://schemas.microsoft.com/office/drawing/2014/main" id="{E1CD5484-8C8F-40A0-B3CF-96EC781C5BD1}"/>
              </a:ext>
            </a:extLst>
          </p:cNvPr>
          <p:cNvSpPr txBox="1">
            <a:spLocks/>
          </p:cNvSpPr>
          <p:nvPr/>
        </p:nvSpPr>
        <p:spPr>
          <a:xfrm>
            <a:off x="1542163" y="5923004"/>
            <a:ext cx="4402828" cy="313798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Главный разработчик (инженер данных)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1444379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81290D7-C2B8-476D-8273-4D40B67E57BB}"/>
              </a:ext>
            </a:extLst>
          </p:cNvPr>
          <p:cNvSpPr/>
          <p:nvPr/>
        </p:nvSpPr>
        <p:spPr>
          <a:xfrm>
            <a:off x="350982" y="3779677"/>
            <a:ext cx="5366327" cy="2454868"/>
          </a:xfrm>
          <a:prstGeom prst="round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B89C43-CDAB-DCFC-6E44-09ADDC93368A}"/>
              </a:ext>
            </a:extLst>
          </p:cNvPr>
          <p:cNvSpPr txBox="1">
            <a:spLocks/>
          </p:cNvSpPr>
          <p:nvPr/>
        </p:nvSpPr>
        <p:spPr>
          <a:xfrm>
            <a:off x="259078" y="1890780"/>
            <a:ext cx="4940996" cy="4736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Функция </a:t>
            </a:r>
            <a:r>
              <a:rPr lang="ru-RU" b="1" dirty="0"/>
              <a:t>– </a:t>
            </a:r>
            <a:r>
              <a:rPr lang="ru-RU" dirty="0"/>
              <a:t>библиотека для анализа и обработки данных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BD2DED2D-2C86-410E-A1AE-2DF2B60C379C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Что такое </a:t>
            </a:r>
            <a:r>
              <a:rPr lang="en-US" dirty="0">
                <a:solidFill>
                  <a:srgbClr val="FF0000"/>
                </a:solidFill>
              </a:rPr>
              <a:t>Pandas</a:t>
            </a:r>
            <a:r>
              <a:rPr lang="ru-RU" dirty="0">
                <a:solidFill>
                  <a:srgbClr val="FF0000"/>
                </a:solidFill>
              </a:rPr>
              <a:t>?</a:t>
            </a:r>
            <a:endParaRPr lang="ru-RS" dirty="0">
              <a:solidFill>
                <a:srgbClr val="FF0000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37E5873-C27D-4788-BDF4-FB9BC21CC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842" y="1066066"/>
            <a:ext cx="3944003" cy="4604021"/>
          </a:xfrm>
          <a:prstGeom prst="rect">
            <a:avLst/>
          </a:prstGeom>
        </p:spPr>
      </p:pic>
      <p:sp>
        <p:nvSpPr>
          <p:cNvPr id="15" name="Текст 4">
            <a:extLst>
              <a:ext uri="{FF2B5EF4-FFF2-40B4-BE49-F238E27FC236}">
                <a16:creationId xmlns:a16="http://schemas.microsoft.com/office/drawing/2014/main" id="{C7228919-D686-4FF2-B6E0-0B82031E0F04}"/>
              </a:ext>
            </a:extLst>
          </p:cNvPr>
          <p:cNvSpPr txBox="1">
            <a:spLocks/>
          </p:cNvSpPr>
          <p:nvPr/>
        </p:nvSpPr>
        <p:spPr>
          <a:xfrm>
            <a:off x="268391" y="3192188"/>
            <a:ext cx="4940996" cy="4736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Основные структуры данных: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DC7CCA92-8A48-4B88-984B-B1BDADE5A2C3}"/>
              </a:ext>
            </a:extLst>
          </p:cNvPr>
          <p:cNvSpPr txBox="1">
            <a:spLocks/>
          </p:cNvSpPr>
          <p:nvPr/>
        </p:nvSpPr>
        <p:spPr>
          <a:xfrm>
            <a:off x="647082" y="4225634"/>
            <a:ext cx="4812424" cy="1757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b="1" dirty="0">
                <a:solidFill>
                  <a:schemeClr val="accent6"/>
                </a:solidFill>
              </a:rPr>
              <a:t>Series</a:t>
            </a:r>
            <a:r>
              <a:rPr lang="ru-RU" sz="1800" dirty="0"/>
              <a:t> - одномерный массив с индексами (столбец)</a:t>
            </a:r>
          </a:p>
          <a:p>
            <a:endParaRPr lang="ru-RU" sz="1800" dirty="0"/>
          </a:p>
          <a:p>
            <a:r>
              <a:rPr lang="ru-RU" sz="1800" b="1" dirty="0" err="1">
                <a:solidFill>
                  <a:schemeClr val="accent6"/>
                </a:solidFill>
              </a:rPr>
              <a:t>DataFrame</a:t>
            </a:r>
            <a:r>
              <a:rPr lang="ru-RU" sz="1800" dirty="0"/>
              <a:t> - двумерный массив (как Excel таблица)</a:t>
            </a:r>
            <a:endParaRPr lang="ru-RU" sz="1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33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Примеры </a:t>
            </a:r>
            <a:r>
              <a:rPr lang="ru-RU" dirty="0">
                <a:solidFill>
                  <a:schemeClr val="bg1"/>
                </a:solidFill>
              </a:rPr>
              <a:t>создания </a:t>
            </a:r>
            <a:r>
              <a:rPr lang="en-US" dirty="0" err="1">
                <a:solidFill>
                  <a:schemeClr val="bg1"/>
                </a:solidFill>
              </a:rPr>
              <a:t>DataFrame</a:t>
            </a:r>
            <a:endParaRPr lang="ru-RS" dirty="0">
              <a:solidFill>
                <a:srgbClr val="EE0F01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4602769-28C7-47BF-8B71-47EE0B4E3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812" y="652338"/>
            <a:ext cx="4715533" cy="477269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7A8C08F-AD47-4044-B5C3-92FEE2BFC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07" y="2343737"/>
            <a:ext cx="4382112" cy="332468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0B06955-B643-4162-837C-D3C212DC5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995" y="2265487"/>
            <a:ext cx="4677428" cy="378195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E20F04C-8E08-4413-B3E9-FBED3605F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907" y="2265487"/>
            <a:ext cx="7201905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1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4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Основные </a:t>
            </a:r>
            <a:r>
              <a:rPr lang="ru-RU" dirty="0">
                <a:solidFill>
                  <a:schemeClr val="bg1"/>
                </a:solidFill>
              </a:rPr>
              <a:t>операции над </a:t>
            </a:r>
            <a:r>
              <a:rPr lang="en-US" dirty="0" err="1">
                <a:solidFill>
                  <a:schemeClr val="bg1"/>
                </a:solidFill>
              </a:rPr>
              <a:t>DataFrame</a:t>
            </a:r>
            <a:endParaRPr lang="ru-RS" dirty="0">
              <a:solidFill>
                <a:srgbClr val="EE0F01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4602769-28C7-47BF-8B71-47EE0B4E3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812" y="652338"/>
            <a:ext cx="4715533" cy="477269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DEC0E06-44CC-4828-94B9-C756A8400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49" y="2181633"/>
            <a:ext cx="5427437" cy="397895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A2DFADD-511F-4D80-BE34-D216F3688E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335" y="2181633"/>
            <a:ext cx="3484682" cy="2528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CECD210-06F7-4CB0-B533-D4079E175E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647" y="2181633"/>
            <a:ext cx="4298840" cy="397895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F376FD2-4099-4F8D-B419-6A53A8DB3B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2543" y="2181632"/>
            <a:ext cx="2960523" cy="397555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1999C97-ABA3-459D-8900-7EAF6C4690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349" y="2178233"/>
            <a:ext cx="5427437" cy="294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03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5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Основные </a:t>
            </a:r>
            <a:r>
              <a:rPr lang="ru-RU" dirty="0">
                <a:solidFill>
                  <a:schemeClr val="bg1"/>
                </a:solidFill>
              </a:rPr>
              <a:t>операции над </a:t>
            </a:r>
            <a:r>
              <a:rPr lang="en-US" dirty="0" err="1">
                <a:solidFill>
                  <a:schemeClr val="bg1"/>
                </a:solidFill>
              </a:rPr>
              <a:t>DataFrame</a:t>
            </a:r>
            <a:endParaRPr lang="ru-RS" dirty="0">
              <a:solidFill>
                <a:srgbClr val="EE0F01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4602769-28C7-47BF-8B71-47EE0B4E3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812" y="652338"/>
            <a:ext cx="4715533" cy="477269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675ECF5-9B7E-49DD-83C3-A558B351A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19" y="2092433"/>
            <a:ext cx="5196663" cy="324591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7E88D24-FFFC-4020-B8AB-4E36FDCF57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183" y="2088746"/>
            <a:ext cx="3807134" cy="324960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DAA061B-A508-4334-A743-9B0522AA3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935" y="2088746"/>
            <a:ext cx="4499630" cy="324591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3DA8141-CC78-45ED-9082-48EE7255F6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418" y="2092433"/>
            <a:ext cx="5188184" cy="255128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AEB6689-C81F-4D91-A438-BBE546FEDB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898" y="2085059"/>
            <a:ext cx="5179704" cy="272706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095ED8A-6E8B-4AF7-A4AC-8C49CF7987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938" y="2081371"/>
            <a:ext cx="5196810" cy="174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1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6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Работа </a:t>
            </a:r>
            <a:r>
              <a:rPr lang="ru-RU" dirty="0">
                <a:solidFill>
                  <a:schemeClr val="bg1"/>
                </a:solidFill>
              </a:rPr>
              <a:t>с пропусками</a:t>
            </a:r>
            <a:endParaRPr lang="ru-RS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752F1E-95B5-4B33-9C12-314F0A3AE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87848"/>
            <a:ext cx="6096000" cy="458196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F37738B-7F49-48ED-B008-159B55ECC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69" y="1590659"/>
            <a:ext cx="3859508" cy="519256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276C8C0-441E-4399-B592-EFFAE36727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53" y="1608588"/>
            <a:ext cx="4996903" cy="248179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C4853DA-56FE-4443-8780-2441D130AC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638" y="1590659"/>
            <a:ext cx="4316332" cy="329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77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7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Основные методы анализа </a:t>
            </a:r>
            <a:r>
              <a:rPr lang="ru-RU" dirty="0">
                <a:solidFill>
                  <a:srgbClr val="FF0000"/>
                </a:solidFill>
              </a:rPr>
              <a:t>данных</a:t>
            </a:r>
            <a:endParaRPr lang="ru-RS" dirty="0">
              <a:solidFill>
                <a:srgbClr val="FF0000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2259D3E-5A5F-4CDC-9C3B-1EAAE7CA5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948" y="1124744"/>
            <a:ext cx="5887271" cy="445487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C6EA2EB-C2FD-4EF8-BD82-ED1895CA3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1" y="2016774"/>
            <a:ext cx="6049219" cy="356284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01DD195-5084-419F-B642-C8E4562C8D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81" y="2016774"/>
            <a:ext cx="6049219" cy="151468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482F926-A612-46DE-9AE2-70DDB1286E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232" y="2016774"/>
            <a:ext cx="5707004" cy="3562847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1092A08-D58A-4474-B0D3-FFEED23BD6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80" y="2016774"/>
            <a:ext cx="6054787" cy="310207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8BA493D-95F1-4AE3-87FE-C7A2543F97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49" y="2016774"/>
            <a:ext cx="6134956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98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8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Основные методы изменения </a:t>
            </a:r>
            <a:r>
              <a:rPr lang="ru-RU" dirty="0">
                <a:solidFill>
                  <a:srgbClr val="FF0000"/>
                </a:solidFill>
              </a:rPr>
              <a:t>данных</a:t>
            </a:r>
            <a:endParaRPr lang="ru-RS" dirty="0">
              <a:solidFill>
                <a:srgbClr val="FF0000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2259D3E-5A5F-4CDC-9C3B-1EAAE7CA5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948" y="1124744"/>
            <a:ext cx="5887271" cy="445487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853B767-4E79-4F21-8BAF-A2F6AD009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315" y="2167572"/>
            <a:ext cx="5591738" cy="379308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9D0446C-54A5-4CCF-89AB-C8C339D6CA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315" y="2167573"/>
            <a:ext cx="5573847" cy="243132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143B481-DF87-4368-9F75-5D13033A28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315" y="2167572"/>
            <a:ext cx="5704587" cy="243132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DEC6AE9-5A74-4AE4-95A7-9F18FB71A2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999" y="2144810"/>
            <a:ext cx="5427437" cy="318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53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9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7370149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Полезные</a:t>
            </a:r>
            <a:r>
              <a:rPr lang="ru-RU" dirty="0">
                <a:solidFill>
                  <a:srgbClr val="FF0000"/>
                </a:solidFill>
              </a:rPr>
              <a:t> советы</a:t>
            </a:r>
            <a:endParaRPr lang="ru-RS" dirty="0">
              <a:solidFill>
                <a:schemeClr val="bg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78A4534-8B8B-4413-9B3A-388E81CC9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122" y="1041902"/>
            <a:ext cx="2575625" cy="477248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FFF2462-B7E9-4395-B730-03CCC6E5C178}"/>
              </a:ext>
            </a:extLst>
          </p:cNvPr>
          <p:cNvSpPr txBox="1"/>
          <p:nvPr/>
        </p:nvSpPr>
        <p:spPr>
          <a:xfrm>
            <a:off x="301207" y="1860748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Всегда проверяйте df.info() после загрузки данных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Используйте </a:t>
            </a:r>
            <a:r>
              <a:rPr lang="ru-RU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df.head</a:t>
            </a:r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для быстрого просмотра данных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Обрабатывайте пропуски перед анализом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Используйте группировку для агрегации данных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Сохраняйте промежуточные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61846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F83688-3DDC-44B5-A119-18F022225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162" y="242443"/>
            <a:ext cx="4029637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2651</TotalTime>
  <Words>144</Words>
  <Application>Microsoft Office PowerPoint</Application>
  <PresentationFormat>Широкоэкранный</PresentationFormat>
  <Paragraphs>45</Paragraphs>
  <Slides>10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Гальбинский Владимир Александрович</cp:lastModifiedBy>
  <cp:revision>177</cp:revision>
  <dcterms:created xsi:type="dcterms:W3CDTF">2025-08-19T06:56:36Z</dcterms:created>
  <dcterms:modified xsi:type="dcterms:W3CDTF">2026-02-26T10:03:14Z</dcterms:modified>
</cp:coreProperties>
</file>