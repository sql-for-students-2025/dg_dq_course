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8" r:id="rId2"/>
    <p:sldId id="319" r:id="rId3"/>
    <p:sldId id="318" r:id="rId4"/>
    <p:sldId id="350" r:id="rId5"/>
    <p:sldId id="351" r:id="rId6"/>
    <p:sldId id="346" r:id="rId7"/>
    <p:sldId id="352" r:id="rId8"/>
    <p:sldId id="353" r:id="rId9"/>
    <p:sldId id="354" r:id="rId10"/>
    <p:sldId id="355" r:id="rId11"/>
    <p:sldId id="349" r:id="rId12"/>
    <p:sldId id="34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C7271-601D-4DF9-9DCA-344C59B46CBF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FF03C-7020-43D7-8FC9-180DF305C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81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Проще говоря: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это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чек-лист для данных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чтобы на них можно было опереться в работе, а не тратить время на поиск косяков и правок. Без качества — все ваши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дашборды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 модели будут выдавать мусор, а не инсайты.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20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906" y="5476251"/>
            <a:ext cx="968249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Data Governance &amp; </a:t>
            </a:r>
            <a:r>
              <a:rPr lang="en-US" dirty="0">
                <a:solidFill>
                  <a:srgbClr val="FF0000"/>
                </a:solidFill>
              </a:rPr>
              <a:t>Data Quality</a:t>
            </a:r>
            <a:endParaRPr lang="ru-RS" dirty="0">
              <a:solidFill>
                <a:srgbClr val="FF0000"/>
              </a:solidFill>
            </a:endParaRPr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5" y="2189898"/>
            <a:ext cx="6329973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Применение SQL для поиска проблем в данных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S"/>
              <a:t>09/07/2025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6" y="1140975"/>
            <a:ext cx="572684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Основные типы проблем в </a:t>
            </a:r>
            <a:r>
              <a:rPr lang="ru-RU" dirty="0">
                <a:solidFill>
                  <a:srgbClr val="EE0F01"/>
                </a:solidFill>
              </a:rPr>
              <a:t>данных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6" y="2199892"/>
            <a:ext cx="4160513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Отсутствующие значения (</a:t>
            </a:r>
            <a:r>
              <a:rPr lang="en-US" dirty="0"/>
              <a:t>NULL)</a:t>
            </a:r>
            <a:endParaRPr lang="ru-RS" dirty="0"/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B39DC06A-909F-4B8D-99FE-1F4985967060}"/>
              </a:ext>
            </a:extLst>
          </p:cNvPr>
          <p:cNvSpPr txBox="1">
            <a:spLocks/>
          </p:cNvSpPr>
          <p:nvPr/>
        </p:nvSpPr>
        <p:spPr>
          <a:xfrm>
            <a:off x="259086" y="2609090"/>
            <a:ext cx="4160513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Неполнота данных </a:t>
            </a:r>
          </a:p>
          <a:p>
            <a:pPr algn="just"/>
            <a:r>
              <a:rPr lang="ru-RU" dirty="0"/>
              <a:t>(отсутствие данных за период)</a:t>
            </a:r>
            <a:endParaRPr lang="ru-RS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D405A1B-BA3A-4632-AC7B-A569BA2742C6}"/>
              </a:ext>
            </a:extLst>
          </p:cNvPr>
          <p:cNvSpPr txBox="1">
            <a:spLocks/>
          </p:cNvSpPr>
          <p:nvPr/>
        </p:nvSpPr>
        <p:spPr>
          <a:xfrm>
            <a:off x="259086" y="3429000"/>
            <a:ext cx="4070867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Некорректные форматы данных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54E20036-7E9B-42DF-BACB-BD6C40DBCADF}"/>
              </a:ext>
            </a:extLst>
          </p:cNvPr>
          <p:cNvSpPr txBox="1">
            <a:spLocks/>
          </p:cNvSpPr>
          <p:nvPr/>
        </p:nvSpPr>
        <p:spPr>
          <a:xfrm>
            <a:off x="259086" y="4006987"/>
            <a:ext cx="4070867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 err="1"/>
              <a:t>Дублирующиеся</a:t>
            </a:r>
            <a:r>
              <a:rPr lang="ru-RU" dirty="0"/>
              <a:t> записи</a:t>
            </a:r>
            <a:endParaRPr lang="ru-RS" dirty="0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281D61FD-04F5-4988-9533-473DBE61B020}"/>
              </a:ext>
            </a:extLst>
          </p:cNvPr>
          <p:cNvSpPr txBox="1">
            <a:spLocks/>
          </p:cNvSpPr>
          <p:nvPr/>
        </p:nvSpPr>
        <p:spPr>
          <a:xfrm>
            <a:off x="259084" y="4507414"/>
            <a:ext cx="4743222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Нарушения ссылочной целостности</a:t>
            </a:r>
            <a:endParaRPr lang="ru-RS" dirty="0"/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7E5EA3D5-ADEA-4F5C-B31A-A87984326253}"/>
              </a:ext>
            </a:extLst>
          </p:cNvPr>
          <p:cNvSpPr txBox="1">
            <a:spLocks/>
          </p:cNvSpPr>
          <p:nvPr/>
        </p:nvSpPr>
        <p:spPr>
          <a:xfrm>
            <a:off x="259084" y="5044671"/>
            <a:ext cx="4626681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Аномальные значения (выбросы)</a:t>
            </a:r>
            <a:endParaRPr lang="ru-RS" dirty="0"/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F8E83678-5769-4269-BBF1-A13C0871EE4C}"/>
              </a:ext>
            </a:extLst>
          </p:cNvPr>
          <p:cNvSpPr txBox="1">
            <a:spLocks/>
          </p:cNvSpPr>
          <p:nvPr/>
        </p:nvSpPr>
        <p:spPr>
          <a:xfrm>
            <a:off x="259083" y="5581928"/>
            <a:ext cx="4626681" cy="483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Логические несоответствия</a:t>
            </a:r>
            <a:endParaRPr lang="ru-RS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9E9C49D-FD74-436E-90DB-A68DFEE1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439" y="647430"/>
            <a:ext cx="4443829" cy="556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9" grpId="0"/>
      <p:bldP spid="20" grpId="0"/>
      <p:bldP spid="11" grpId="0"/>
      <p:bldP spid="12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Отсутствующие значения </a:t>
            </a:r>
            <a:r>
              <a:rPr lang="ru-RU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NULL)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Ошибки при вводе данных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567921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Проблемы в </a:t>
            </a:r>
            <a:r>
              <a:rPr lang="en-US" b="1" dirty="0"/>
              <a:t>ETL-</a:t>
            </a:r>
            <a:r>
              <a:rPr lang="ru-RU" b="1" dirty="0"/>
              <a:t>процессах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59087" y="2934872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Необязательные поля в формах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59089" y="3352656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Технические сбои при передаче данных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Искажение средних значений</a:t>
            </a:r>
          </a:p>
          <a:p>
            <a:r>
              <a:rPr lang="ru-RU" b="1" dirty="0"/>
              <a:t>- Проблемы с группировкой данных</a:t>
            </a:r>
          </a:p>
          <a:p>
            <a:r>
              <a:rPr lang="ru-RU" b="1" dirty="0"/>
              <a:t>- Ошибки в отчетах по количеству клиентов/транзакций</a:t>
            </a:r>
          </a:p>
        </p:txBody>
      </p:sp>
    </p:spTree>
    <p:extLst>
      <p:ext uri="{BB962C8B-B14F-4D97-AF65-F5344CB8AC3E}">
        <p14:creationId xmlns:p14="http://schemas.microsoft.com/office/powerpoint/2010/main" val="3520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</a:rPr>
              <a:t>Неполнота данных </a:t>
            </a:r>
            <a:r>
              <a:rPr lang="ru-RU" sz="2400" dirty="0">
                <a:solidFill>
                  <a:srgbClr val="FF0000"/>
                </a:solidFill>
              </a:rPr>
              <a:t>(отсутствие данных за период)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Сбои в системах сбора данных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567921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Проблемы с интеграцией между системами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28716" y="3183583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Техническое обслуживание в нерабочее время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13112" y="3792420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Человеческий фактор (забыли включить сбор данных)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473411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Искажение трендов и сезонности</a:t>
            </a:r>
          </a:p>
          <a:p>
            <a:r>
              <a:rPr lang="ru-RU" b="1" dirty="0"/>
              <a:t>- Невозможность корректного сравнения периодов</a:t>
            </a:r>
          </a:p>
          <a:p>
            <a:r>
              <a:rPr lang="ru-RU" b="1" dirty="0"/>
              <a:t>- Ошибки в прогнозных моделях</a:t>
            </a:r>
          </a:p>
        </p:txBody>
      </p:sp>
    </p:spTree>
    <p:extLst>
      <p:ext uri="{BB962C8B-B14F-4D97-AF65-F5344CB8AC3E}">
        <p14:creationId xmlns:p14="http://schemas.microsoft.com/office/powerpoint/2010/main" val="266336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</a:rPr>
              <a:t>Некорректные форматы </a:t>
            </a:r>
            <a:r>
              <a:rPr lang="ru-RU" sz="2400" dirty="0">
                <a:solidFill>
                  <a:srgbClr val="FF0000"/>
                </a:solidFill>
              </a:rPr>
              <a:t>данных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Ошибки валидации на стороне UI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567921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Импорт данных из внешних источников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167136" y="3183583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 Разные стандарты форматирования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28716" y="3571575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Человеческие ошибки при ручном вводе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473411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Ошибки при JOIN между таблицами</a:t>
            </a:r>
          </a:p>
          <a:p>
            <a:r>
              <a:rPr lang="ru-RU" b="1" dirty="0"/>
              <a:t>- Проблемы с сортировкой и группировкой</a:t>
            </a:r>
          </a:p>
          <a:p>
            <a:r>
              <a:rPr lang="ru-RU" b="1" dirty="0"/>
              <a:t>- Некорректная работа функций агрегации</a:t>
            </a:r>
          </a:p>
        </p:txBody>
      </p:sp>
    </p:spTree>
    <p:extLst>
      <p:ext uri="{BB962C8B-B14F-4D97-AF65-F5344CB8AC3E}">
        <p14:creationId xmlns:p14="http://schemas.microsoft.com/office/powerpoint/2010/main" val="5674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 err="1">
                <a:solidFill>
                  <a:schemeClr val="bg1"/>
                </a:solidFill>
              </a:rPr>
              <a:t>Дублирующиеся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rgbClr val="FF0000"/>
                </a:solidFill>
              </a:rPr>
              <a:t>записи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40968" y="2092433"/>
            <a:ext cx="572525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Операционная ценность</a:t>
            </a:r>
            <a:r>
              <a:rPr lang="en-US" b="1" dirty="0"/>
              <a:t> </a:t>
            </a:r>
            <a:r>
              <a:rPr lang="en-US" dirty="0"/>
              <a:t>-</a:t>
            </a:r>
            <a:r>
              <a:rPr lang="ru-RU" b="1" dirty="0"/>
              <a:t> </a:t>
            </a:r>
            <a:r>
              <a:rPr lang="ru-RU" dirty="0"/>
              <a:t>когда данные помогают </a:t>
            </a:r>
            <a:r>
              <a:rPr lang="ru-RU" b="1" dirty="0"/>
              <a:t>движениям внутри компании</a:t>
            </a:r>
            <a:r>
              <a:rPr lang="ru-RU" dirty="0"/>
              <a:t>. Меньше рутины, меньше косяков, решения — по фактам, а не на ощупь.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40968" y="3429000"/>
            <a:ext cx="5630725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Стратегическая ценность </a:t>
            </a:r>
            <a:r>
              <a:rPr lang="ru-RU" dirty="0"/>
              <a:t>-  обгон конкурентов за счёт новых продуктов или вообще монетизации данных. Фактически - </a:t>
            </a:r>
            <a:r>
              <a:rPr lang="ru-RU" b="1" dirty="0"/>
              <a:t>данные как суперсила</a:t>
            </a:r>
            <a:r>
              <a:rPr lang="ru-RU" dirty="0"/>
              <a:t> для роста.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40968" y="4765567"/>
            <a:ext cx="572525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Экономическая ценность</a:t>
            </a:r>
            <a:r>
              <a:rPr lang="ru-RU" dirty="0"/>
              <a:t> -  </a:t>
            </a:r>
            <a:r>
              <a:rPr lang="ru-RU" b="1" dirty="0"/>
              <a:t>данные = кэш</a:t>
            </a:r>
            <a:r>
              <a:rPr lang="ru-RU" dirty="0"/>
              <a:t>. Либо экономят деньги (оптимизируют затраты), либо приносят их больше (увеличивают доход). Всё сводится к финансовому результату.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246586-2F0E-4C84-B623-D1A290000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470" y="601067"/>
            <a:ext cx="4658375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5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 err="1">
                <a:solidFill>
                  <a:schemeClr val="bg1"/>
                </a:solidFill>
              </a:rPr>
              <a:t>Дублирующиеся</a:t>
            </a:r>
            <a:r>
              <a:rPr lang="ru-RU" sz="3600" dirty="0">
                <a:solidFill>
                  <a:schemeClr val="bg1"/>
                </a:solidFill>
              </a:rPr>
              <a:t> </a:t>
            </a:r>
            <a:r>
              <a:rPr lang="ru-RU" sz="3600" dirty="0">
                <a:solidFill>
                  <a:srgbClr val="FF0000"/>
                </a:solidFill>
              </a:rPr>
              <a:t>записи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Ошибки в </a:t>
            </a:r>
            <a:r>
              <a:rPr lang="en-US" b="1" dirty="0"/>
              <a:t>ETL-</a:t>
            </a:r>
            <a:r>
              <a:rPr lang="ru-RU" b="1" dirty="0"/>
              <a:t>процессах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567921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Отсутствие ограничений UNIQUE в БД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59087" y="2934872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Многократный импорт одних и тех же данных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59089" y="3608944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Технические сбои при вставке данных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Завышение метрик (количество клиентов, продаж)</a:t>
            </a:r>
          </a:p>
          <a:p>
            <a:r>
              <a:rPr lang="ru-RU" b="1" dirty="0"/>
              <a:t>- Искажение средних значений и сумм</a:t>
            </a:r>
          </a:p>
          <a:p>
            <a:r>
              <a:rPr lang="ru-RU" b="1" dirty="0"/>
              <a:t>- Проблемы с подсчетом уникальных показателей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360447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Нарушения ссылочной </a:t>
            </a:r>
            <a:r>
              <a:rPr lang="ru-RU" sz="3200" dirty="0">
                <a:solidFill>
                  <a:srgbClr val="FF0000"/>
                </a:solidFill>
              </a:rPr>
              <a:t>целостности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Удаление записей без каскадного обновления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802153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Ошибки при миграции данных</a:t>
            </a:r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59087" y="3193400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Разные версии данных в связанных системах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59089" y="3867472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Нарушение порядка загрузки данных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Невозможность построить корректные JOIN</a:t>
            </a:r>
          </a:p>
          <a:p>
            <a:r>
              <a:rPr lang="ru-RU" b="1" dirty="0"/>
              <a:t>- Потеря данных при агрегации</a:t>
            </a:r>
          </a:p>
          <a:p>
            <a:r>
              <a:rPr lang="ru-RU" b="1" dirty="0"/>
              <a:t>- Ошибки в отчетах, где нужны данные из связанных таблиц</a:t>
            </a:r>
          </a:p>
        </p:txBody>
      </p:sp>
    </p:spTree>
    <p:extLst>
      <p:ext uri="{BB962C8B-B14F-4D97-AF65-F5344CB8AC3E}">
        <p14:creationId xmlns:p14="http://schemas.microsoft.com/office/powerpoint/2010/main" val="132732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Аномальные значения </a:t>
            </a:r>
            <a:r>
              <a:rPr lang="ru-RU" sz="3200" dirty="0">
                <a:solidFill>
                  <a:srgbClr val="FF0000"/>
                </a:solidFill>
              </a:rPr>
              <a:t>(выбросы)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Технические ошибки (лишний ноль в цене)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802153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Человеческие ошибки при вводе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59087" y="3193400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Тестовые данные в </a:t>
            </a:r>
            <a:r>
              <a:rPr lang="ru-RU" b="1" dirty="0" err="1"/>
              <a:t>продакшене</a:t>
            </a:r>
            <a:endParaRPr lang="ru-RU" b="1" dirty="0"/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59089" y="3600295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Реальные, но редкие события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Искажение средних значений</a:t>
            </a:r>
          </a:p>
          <a:p>
            <a:r>
              <a:rPr lang="ru-RU" b="1" dirty="0"/>
              <a:t>- Некорректные результаты статистического анализа</a:t>
            </a:r>
          </a:p>
          <a:p>
            <a:r>
              <a:rPr lang="ru-RU" b="1" dirty="0"/>
              <a:t>- Проблемы в машинном обучении</a:t>
            </a:r>
          </a:p>
        </p:txBody>
      </p:sp>
    </p:spTree>
    <p:extLst>
      <p:ext uri="{BB962C8B-B14F-4D97-AF65-F5344CB8AC3E}">
        <p14:creationId xmlns:p14="http://schemas.microsoft.com/office/powerpoint/2010/main" val="375739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solidFill>
                  <a:schemeClr val="bg1"/>
                </a:solidFill>
              </a:rPr>
              <a:t>Логические </a:t>
            </a:r>
            <a:r>
              <a:rPr lang="ru-RU" sz="3200" dirty="0">
                <a:solidFill>
                  <a:srgbClr val="FF0000"/>
                </a:solidFill>
              </a:rPr>
              <a:t>несоответствия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9" y="2179929"/>
            <a:ext cx="5158395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Ошибки в бизнес-процессах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8D1D884-85A9-4DCE-BE71-003E272D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78" y="974499"/>
            <a:ext cx="4443829" cy="5563139"/>
          </a:xfrm>
          <a:prstGeom prst="rect">
            <a:avLst/>
          </a:prstGeom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7" y="2597101"/>
            <a:ext cx="5066446" cy="7339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Несогласованность между системами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3409ECC5-BB0F-41DA-AB8E-B23BCF8388EE}"/>
              </a:ext>
            </a:extLst>
          </p:cNvPr>
          <p:cNvSpPr txBox="1">
            <a:spLocks/>
          </p:cNvSpPr>
          <p:nvPr/>
        </p:nvSpPr>
        <p:spPr>
          <a:xfrm>
            <a:off x="259087" y="3005171"/>
            <a:ext cx="5066446" cy="733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Нарушение временных последовательностей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25EA100-8C3E-49E1-9C87-9E2F0EE0BB9D}"/>
              </a:ext>
            </a:extLst>
          </p:cNvPr>
          <p:cNvSpPr txBox="1">
            <a:spLocks/>
          </p:cNvSpPr>
          <p:nvPr/>
        </p:nvSpPr>
        <p:spPr>
          <a:xfrm>
            <a:off x="259087" y="3641103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Неправильная интерпретация бизнес-правил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908FF4FD-CED7-4523-9744-0176D92362DA}"/>
              </a:ext>
            </a:extLst>
          </p:cNvPr>
          <p:cNvSpPr txBox="1">
            <a:spLocks/>
          </p:cNvSpPr>
          <p:nvPr/>
        </p:nvSpPr>
        <p:spPr>
          <a:xfrm>
            <a:off x="213112" y="4688871"/>
            <a:ext cx="5158395" cy="7728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Влияние на анализ:</a:t>
            </a:r>
          </a:p>
          <a:p>
            <a:r>
              <a:rPr lang="ru-RU" b="1" dirty="0"/>
              <a:t>- Недоверие к данным со стороны бизнес-пользователей</a:t>
            </a:r>
          </a:p>
          <a:p>
            <a:r>
              <a:rPr lang="ru-RU" b="1" dirty="0"/>
              <a:t>- Ошибки в финансовой отчетности</a:t>
            </a:r>
          </a:p>
          <a:p>
            <a:r>
              <a:rPr lang="ru-RU" b="1" dirty="0"/>
              <a:t>- Некорректные бизнес-решения на основе ошибочных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80441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6" grpId="0"/>
      <p:bldP spid="17" grpId="0"/>
      <p:bldP spid="1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Советы по </a:t>
            </a:r>
          </a:p>
          <a:p>
            <a:r>
              <a:rPr lang="en-US" dirty="0">
                <a:solidFill>
                  <a:srgbClr val="FF0000"/>
                </a:solidFill>
              </a:rPr>
              <a:t>Data Quality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2CE59341-C68C-4F4E-9672-A59FFAC8EFDD}"/>
              </a:ext>
            </a:extLst>
          </p:cNvPr>
          <p:cNvSpPr txBox="1">
            <a:spLocks/>
          </p:cNvSpPr>
          <p:nvPr/>
        </p:nvSpPr>
        <p:spPr>
          <a:xfrm>
            <a:off x="259086" y="2190875"/>
            <a:ext cx="5707136" cy="7854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/>
              <a:t>- Регулярная проверка данных предотвращает серьезные ошибки в аналитике</a:t>
            </a:r>
          </a:p>
          <a:p>
            <a:r>
              <a:rPr lang="ru-RU" sz="1800" b="1" dirty="0"/>
              <a:t>- SQL - мощный инструмент для выявления проблем в данных</a:t>
            </a:r>
          </a:p>
          <a:p>
            <a:r>
              <a:rPr lang="ru-RU" sz="1800" b="1" dirty="0"/>
              <a:t>- Логирование проблем помогает отслеживать качество данных во времени</a:t>
            </a:r>
          </a:p>
          <a:p>
            <a:r>
              <a:rPr lang="ru-RU" sz="1800" b="1" dirty="0"/>
              <a:t>- Автоматизация проверок повышает эффективность работы с данными</a:t>
            </a:r>
            <a:endParaRPr lang="ru-RU" sz="1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01111B-36F9-4323-88D8-A10C8FC59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470" y="601067"/>
            <a:ext cx="4658375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8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83688-3DDC-44B5-A119-18F02222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62" y="242443"/>
            <a:ext cx="4029637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544</Words>
  <Application>Microsoft Office PowerPoint</Application>
  <PresentationFormat>Широкоэкранный</PresentationFormat>
  <Paragraphs>102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45</cp:revision>
  <dcterms:created xsi:type="dcterms:W3CDTF">2025-08-19T06:56:36Z</dcterms:created>
  <dcterms:modified xsi:type="dcterms:W3CDTF">2026-03-26T11:10:15Z</dcterms:modified>
</cp:coreProperties>
</file>