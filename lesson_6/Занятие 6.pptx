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8" r:id="rId2"/>
    <p:sldId id="352" r:id="rId3"/>
    <p:sldId id="359" r:id="rId4"/>
    <p:sldId id="360" r:id="rId5"/>
    <p:sldId id="318" r:id="rId6"/>
    <p:sldId id="361" r:id="rId7"/>
    <p:sldId id="353" r:id="rId8"/>
    <p:sldId id="354" r:id="rId9"/>
    <p:sldId id="363" r:id="rId10"/>
    <p:sldId id="362" r:id="rId11"/>
    <p:sldId id="364" r:id="rId12"/>
    <p:sldId id="365" r:id="rId13"/>
    <p:sldId id="34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C7271-601D-4DF9-9DCA-344C59B46CB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FF03C-7020-43D7-8FC9-180DF305C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81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018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450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823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42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178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599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751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009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Data Governance &amp; </a:t>
            </a:r>
            <a:r>
              <a:rPr lang="en-US" dirty="0">
                <a:solidFill>
                  <a:srgbClr val="FF0000"/>
                </a:solidFill>
              </a:rPr>
              <a:t>Data Quality</a:t>
            </a:r>
            <a:endParaRPr lang="ru-RS" dirty="0">
              <a:solidFill>
                <a:srgbClr val="FF0000"/>
              </a:solidFill>
            </a:endParaRPr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189898"/>
            <a:ext cx="7517932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Качество данных и методы его контроля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</a:t>
            </a:r>
            <a:r>
              <a:rPr lang="ru-RU" dirty="0"/>
              <a:t>8</a:t>
            </a:r>
            <a:r>
              <a:rPr lang="ru-RS" dirty="0"/>
              <a:t>/0</a:t>
            </a:r>
            <a:r>
              <a:rPr lang="ru-RU" dirty="0"/>
              <a:t>3</a:t>
            </a:r>
            <a:r>
              <a:rPr lang="ru-RS" dirty="0"/>
              <a:t>/202</a:t>
            </a:r>
            <a:r>
              <a:rPr lang="en-US" dirty="0"/>
              <a:t>6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53235F-0046-4C27-9AB7-3F00079C62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455112" y="5473650"/>
            <a:ext cx="845474" cy="897411"/>
          </a:xfrm>
          <a:ln>
            <a:solidFill>
              <a:srgbClr val="FFF654"/>
            </a:solidFill>
          </a:ln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D31D1DE1-DCFD-439F-BEC0-2225D1494812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Кирсанов</a:t>
            </a:r>
            <a:endParaRPr lang="ru-RS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57B93BAC-1714-474C-B459-F2F6F8820A04}"/>
              </a:ext>
            </a:extLst>
          </p:cNvPr>
          <p:cNvSpPr txBox="1">
            <a:spLocks/>
          </p:cNvSpPr>
          <p:nvPr/>
        </p:nvSpPr>
        <p:spPr>
          <a:xfrm>
            <a:off x="1542163" y="5923003"/>
            <a:ext cx="4402828" cy="4480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 направления разработки инструментов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цифровых каналов коммуникации</a:t>
            </a:r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78" y="2149775"/>
            <a:ext cx="4852184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Data Quality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– это степень, в которой данные пригодны для выполнения бизнес-задач</a:t>
            </a:r>
            <a:endParaRPr lang="ru-RU" dirty="0"/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BD2DED2D-2C86-410E-A1AE-2DF2B60C379C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FF0000"/>
                </a:solidFill>
              </a:rPr>
              <a:t>качество данных?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978C4B4F-F3B9-4B57-83F3-2DE3C3C0BA81}"/>
              </a:ext>
            </a:extLst>
          </p:cNvPr>
          <p:cNvSpPr txBox="1">
            <a:spLocks/>
          </p:cNvSpPr>
          <p:nvPr/>
        </p:nvSpPr>
        <p:spPr>
          <a:xfrm>
            <a:off x="259078" y="3381553"/>
            <a:ext cx="5938522" cy="1743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Качество </a:t>
            </a:r>
            <a:r>
              <a:rPr lang="ru-RU" b="1" dirty="0"/>
              <a:t>– это не абсолютная истина, а соответствие целям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80648B4-2C03-4493-849F-9FDB84DD3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122" y="1041902"/>
            <a:ext cx="2575625" cy="4772483"/>
          </a:xfrm>
          <a:prstGeom prst="rect">
            <a:avLst/>
          </a:prstGeom>
        </p:spPr>
      </p:pic>
      <p:sp>
        <p:nvSpPr>
          <p:cNvPr id="11" name="Текст 4">
            <a:extLst>
              <a:ext uri="{FF2B5EF4-FFF2-40B4-BE49-F238E27FC236}">
                <a16:creationId xmlns:a16="http://schemas.microsoft.com/office/drawing/2014/main" id="{88C8D4E9-6FAF-462A-B149-D4760138D66C}"/>
              </a:ext>
            </a:extLst>
          </p:cNvPr>
          <p:cNvSpPr txBox="1">
            <a:spLocks/>
          </p:cNvSpPr>
          <p:nvPr/>
        </p:nvSpPr>
        <p:spPr>
          <a:xfrm>
            <a:off x="259078" y="4353445"/>
            <a:ext cx="5938522" cy="1743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C000"/>
                </a:solidFill>
              </a:rPr>
              <a:t>Например, </a:t>
            </a:r>
            <a:r>
              <a:rPr lang="ru-RU" b="1" dirty="0"/>
              <a:t>данные, пригодные для клиентской аналитики, могут быть непригодны для коммуникации с клиентами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33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60669" y="2417491"/>
            <a:ext cx="6171392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rgbClr val="FF0000"/>
                </a:solidFill>
              </a:rPr>
              <a:t>Последствия </a:t>
            </a:r>
            <a:r>
              <a:rPr lang="ru-RU" sz="2400" b="1" dirty="0"/>
              <a:t>плохого качества данных</a:t>
            </a:r>
            <a:endParaRPr lang="ru-RU" sz="2400" dirty="0"/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BD2DED2D-2C86-410E-A1AE-2DF2B60C379C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261539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Мусор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на входе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978C4B4F-F3B9-4B57-83F3-2DE3C3C0BA81}"/>
              </a:ext>
            </a:extLst>
          </p:cNvPr>
          <p:cNvSpPr txBox="1">
            <a:spLocks/>
          </p:cNvSpPr>
          <p:nvPr/>
        </p:nvSpPr>
        <p:spPr>
          <a:xfrm>
            <a:off x="620175" y="3105984"/>
            <a:ext cx="4858409" cy="113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- </a:t>
            </a:r>
            <a:r>
              <a:rPr lang="ru-RU" sz="1800" b="1" dirty="0">
                <a:solidFill>
                  <a:srgbClr val="FF0000"/>
                </a:solidFill>
              </a:rPr>
              <a:t>неверные</a:t>
            </a:r>
            <a:r>
              <a:rPr lang="ru-RU" sz="1800" b="1" dirty="0"/>
              <a:t> аналитические отчеты и бизнес-решения</a:t>
            </a:r>
            <a:endParaRPr lang="ru-RU" sz="1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E888D4-3D99-4AEC-9FAD-25F1EA7C39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 t="54269" r="50000" b="4678"/>
          <a:stretch/>
        </p:blipFill>
        <p:spPr>
          <a:xfrm>
            <a:off x="7738464" y="1445062"/>
            <a:ext cx="2726335" cy="4310557"/>
          </a:xfrm>
          <a:prstGeom prst="rect">
            <a:avLst/>
          </a:prstGeom>
        </p:spPr>
      </p:pic>
      <p:sp>
        <p:nvSpPr>
          <p:cNvPr id="11" name="Текст 3">
            <a:extLst>
              <a:ext uri="{FF2B5EF4-FFF2-40B4-BE49-F238E27FC236}">
                <a16:creationId xmlns:a16="http://schemas.microsoft.com/office/drawing/2014/main" id="{EE0169BE-99A2-4BCF-9271-05B700140716}"/>
              </a:ext>
            </a:extLst>
          </p:cNvPr>
          <p:cNvSpPr txBox="1">
            <a:spLocks/>
          </p:cNvSpPr>
          <p:nvPr/>
        </p:nvSpPr>
        <p:spPr>
          <a:xfrm>
            <a:off x="3107638" y="1183840"/>
            <a:ext cx="261539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Мусор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на выходе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7D27A7D2-3128-4227-9D09-3FF3D1079CE1}"/>
              </a:ext>
            </a:extLst>
          </p:cNvPr>
          <p:cNvSpPr txBox="1">
            <a:spLocks/>
          </p:cNvSpPr>
          <p:nvPr/>
        </p:nvSpPr>
        <p:spPr>
          <a:xfrm>
            <a:off x="2426104" y="1282263"/>
            <a:ext cx="899915" cy="7708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050D5B9A-9471-4695-902C-85E81BCF3D51}"/>
              </a:ext>
            </a:extLst>
          </p:cNvPr>
          <p:cNvSpPr txBox="1">
            <a:spLocks/>
          </p:cNvSpPr>
          <p:nvPr/>
        </p:nvSpPr>
        <p:spPr>
          <a:xfrm>
            <a:off x="620175" y="3855347"/>
            <a:ext cx="5014716" cy="113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- финансовые </a:t>
            </a:r>
            <a:r>
              <a:rPr lang="ru-RU" sz="1800" b="1" dirty="0">
                <a:solidFill>
                  <a:srgbClr val="FF0000"/>
                </a:solidFill>
              </a:rPr>
              <a:t>потери</a:t>
            </a:r>
            <a:r>
              <a:rPr lang="ru-RU" sz="1800" b="1" dirty="0"/>
              <a:t> (</a:t>
            </a:r>
            <a:r>
              <a:rPr lang="ru-RU" sz="1800" b="1" dirty="0" err="1"/>
              <a:t>кешбек</a:t>
            </a:r>
            <a:r>
              <a:rPr lang="ru-RU" sz="1800" b="1" dirty="0"/>
              <a:t>, </a:t>
            </a:r>
            <a:r>
              <a:rPr lang="ru-RU" sz="1800" b="1" dirty="0" err="1"/>
              <a:t>фрод</a:t>
            </a:r>
            <a:r>
              <a:rPr lang="ru-RU" sz="1800" b="1" dirty="0"/>
              <a:t> и прочее)</a:t>
            </a:r>
            <a:endParaRPr lang="ru-RU" sz="1800" dirty="0"/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1108048C-29F0-4201-94D6-B367F5E27010}"/>
              </a:ext>
            </a:extLst>
          </p:cNvPr>
          <p:cNvSpPr txBox="1">
            <a:spLocks/>
          </p:cNvSpPr>
          <p:nvPr/>
        </p:nvSpPr>
        <p:spPr>
          <a:xfrm>
            <a:off x="620175" y="4620987"/>
            <a:ext cx="5014716" cy="113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- имиджевые и репутационные </a:t>
            </a:r>
            <a:r>
              <a:rPr lang="ru-RU" sz="1800" b="1" dirty="0">
                <a:solidFill>
                  <a:srgbClr val="FF0000"/>
                </a:solidFill>
              </a:rPr>
              <a:t>риски</a:t>
            </a:r>
            <a:endParaRPr lang="ru-RU" sz="1800" dirty="0">
              <a:solidFill>
                <a:srgbClr val="FF0000"/>
              </a:solidFill>
            </a:endParaRP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E93A548F-0966-4363-B66D-36F29D4C135A}"/>
              </a:ext>
            </a:extLst>
          </p:cNvPr>
          <p:cNvSpPr txBox="1">
            <a:spLocks/>
          </p:cNvSpPr>
          <p:nvPr/>
        </p:nvSpPr>
        <p:spPr>
          <a:xfrm>
            <a:off x="620176" y="5106844"/>
            <a:ext cx="5014716" cy="113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- </a:t>
            </a:r>
            <a:r>
              <a:rPr lang="ru-RU" sz="1800" b="1" dirty="0">
                <a:solidFill>
                  <a:srgbClr val="FF0000"/>
                </a:solidFill>
              </a:rPr>
              <a:t>неэффективные</a:t>
            </a:r>
            <a:r>
              <a:rPr lang="ru-RU" sz="1800" b="1" dirty="0"/>
              <a:t> маркетинговые кампании</a:t>
            </a:r>
            <a:endParaRPr lang="ru-RU" sz="1800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BD06579-F987-46FE-B4E3-321E2B4542D6}"/>
              </a:ext>
            </a:extLst>
          </p:cNvPr>
          <p:cNvSpPr txBox="1">
            <a:spLocks/>
          </p:cNvSpPr>
          <p:nvPr/>
        </p:nvSpPr>
        <p:spPr>
          <a:xfrm>
            <a:off x="620176" y="5861104"/>
            <a:ext cx="5014716" cy="113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- </a:t>
            </a:r>
            <a:r>
              <a:rPr lang="ru-RU" sz="1800" b="1" dirty="0">
                <a:solidFill>
                  <a:srgbClr val="FF0000"/>
                </a:solidFill>
              </a:rPr>
              <a:t>трата времени </a:t>
            </a:r>
            <a:r>
              <a:rPr lang="ru-RU" sz="1800" b="1" dirty="0"/>
              <a:t>на исправление или проверку результатов расчетов</a:t>
            </a:r>
            <a:endParaRPr lang="ru-RU" sz="1800" dirty="0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03A13C19-C732-4308-93F4-308954EE573D}"/>
              </a:ext>
            </a:extLst>
          </p:cNvPr>
          <p:cNvCxnSpPr>
            <a:cxnSpLocks/>
          </p:cNvCxnSpPr>
          <p:nvPr/>
        </p:nvCxnSpPr>
        <p:spPr>
          <a:xfrm>
            <a:off x="369015" y="3787653"/>
            <a:ext cx="5354015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5D6A8CA-8981-444D-963B-4591C727E2AD}"/>
              </a:ext>
            </a:extLst>
          </p:cNvPr>
          <p:cNvCxnSpPr>
            <a:cxnSpLocks/>
          </p:cNvCxnSpPr>
          <p:nvPr/>
        </p:nvCxnSpPr>
        <p:spPr>
          <a:xfrm>
            <a:off x="369016" y="4567327"/>
            <a:ext cx="5354015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52FA2B7-9D9C-411E-B64A-5127BB98C388}"/>
              </a:ext>
            </a:extLst>
          </p:cNvPr>
          <p:cNvCxnSpPr>
            <a:cxnSpLocks/>
          </p:cNvCxnSpPr>
          <p:nvPr/>
        </p:nvCxnSpPr>
        <p:spPr>
          <a:xfrm>
            <a:off x="369017" y="5106844"/>
            <a:ext cx="5354015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60F0353-B8CB-44FC-943F-F47B9D4B2BC6}"/>
              </a:ext>
            </a:extLst>
          </p:cNvPr>
          <p:cNvCxnSpPr>
            <a:cxnSpLocks/>
          </p:cNvCxnSpPr>
          <p:nvPr/>
        </p:nvCxnSpPr>
        <p:spPr>
          <a:xfrm>
            <a:off x="369017" y="5861104"/>
            <a:ext cx="5354015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92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78" y="1890780"/>
            <a:ext cx="4852184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FF0000"/>
                </a:solidFill>
              </a:rPr>
              <a:t>Accuracy (</a:t>
            </a:r>
            <a:r>
              <a:rPr lang="ru-RU" sz="1600" b="1" dirty="0">
                <a:solidFill>
                  <a:srgbClr val="FF0000"/>
                </a:solidFill>
              </a:rPr>
              <a:t>точность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  <a:r>
              <a:rPr lang="ru-RU" sz="1600" b="1" dirty="0">
                <a:solidFill>
                  <a:srgbClr val="FF0000"/>
                </a:solidFill>
              </a:rPr>
              <a:t> </a:t>
            </a:r>
            <a:r>
              <a:rPr lang="ru-RU" sz="1600" b="1" dirty="0"/>
              <a:t>– данные соответствуют реальным</a:t>
            </a:r>
            <a:endParaRPr lang="ru-RU" sz="1600" dirty="0"/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BD2DED2D-2C86-410E-A1AE-2DF2B60C379C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Метрики </a:t>
            </a:r>
            <a:r>
              <a:rPr lang="ru-RU" dirty="0">
                <a:solidFill>
                  <a:srgbClr val="FF0000"/>
                </a:solidFill>
              </a:rPr>
              <a:t>качества данных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978C4B4F-F3B9-4B57-83F3-2DE3C3C0BA81}"/>
              </a:ext>
            </a:extLst>
          </p:cNvPr>
          <p:cNvSpPr txBox="1">
            <a:spLocks/>
          </p:cNvSpPr>
          <p:nvPr/>
        </p:nvSpPr>
        <p:spPr>
          <a:xfrm>
            <a:off x="256247" y="2653051"/>
            <a:ext cx="5938522" cy="1743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FF0000"/>
                </a:solidFill>
              </a:rPr>
              <a:t>Completeness (</a:t>
            </a:r>
            <a:r>
              <a:rPr lang="ru-RU" sz="1600" b="1" dirty="0">
                <a:solidFill>
                  <a:srgbClr val="FF0000"/>
                </a:solidFill>
              </a:rPr>
              <a:t>полнота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  <a:r>
              <a:rPr lang="ru-RU" sz="1600" b="1" dirty="0">
                <a:solidFill>
                  <a:srgbClr val="FF0000"/>
                </a:solidFill>
              </a:rPr>
              <a:t> </a:t>
            </a:r>
            <a:r>
              <a:rPr lang="ru-RU" sz="1600" b="1" dirty="0"/>
              <a:t>– все данные в наличии</a:t>
            </a:r>
            <a:endParaRPr lang="ru-RU" sz="16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80648B4-2C03-4493-849F-9FDB84DD3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122" y="1041902"/>
            <a:ext cx="2575625" cy="4772483"/>
          </a:xfrm>
          <a:prstGeom prst="rect">
            <a:avLst/>
          </a:prstGeom>
        </p:spPr>
      </p:pic>
      <p:sp>
        <p:nvSpPr>
          <p:cNvPr id="8" name="Текст 4">
            <a:extLst>
              <a:ext uri="{FF2B5EF4-FFF2-40B4-BE49-F238E27FC236}">
                <a16:creationId xmlns:a16="http://schemas.microsoft.com/office/drawing/2014/main" id="{26CE7A8A-DE2F-4823-9593-6226046BA009}"/>
              </a:ext>
            </a:extLst>
          </p:cNvPr>
          <p:cNvSpPr txBox="1">
            <a:spLocks/>
          </p:cNvSpPr>
          <p:nvPr/>
        </p:nvSpPr>
        <p:spPr>
          <a:xfrm>
            <a:off x="256247" y="3196492"/>
            <a:ext cx="5691261" cy="1743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FF0000"/>
                </a:solidFill>
              </a:rPr>
              <a:t>Consistency (</a:t>
            </a:r>
            <a:r>
              <a:rPr lang="ru-RU" sz="1600" b="1" dirty="0">
                <a:solidFill>
                  <a:srgbClr val="FF0000"/>
                </a:solidFill>
              </a:rPr>
              <a:t>непротиворечивость/</a:t>
            </a:r>
            <a:r>
              <a:rPr lang="ru-RU" sz="1600" b="1" dirty="0" err="1">
                <a:solidFill>
                  <a:srgbClr val="FF0000"/>
                </a:solidFill>
              </a:rPr>
              <a:t>консистентность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  <a:r>
              <a:rPr lang="ru-RU" sz="1600" b="1" dirty="0">
                <a:solidFill>
                  <a:srgbClr val="FF0000"/>
                </a:solidFill>
              </a:rPr>
              <a:t> </a:t>
            </a:r>
            <a:r>
              <a:rPr lang="ru-RU" sz="1600" b="1" dirty="0"/>
              <a:t>– в разных системах или разных таблицах данные соответствуют</a:t>
            </a:r>
            <a:endParaRPr lang="ru-RU" sz="1600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3766A4C-20BA-449C-8986-E61406313F45}"/>
              </a:ext>
            </a:extLst>
          </p:cNvPr>
          <p:cNvSpPr txBox="1">
            <a:spLocks/>
          </p:cNvSpPr>
          <p:nvPr/>
        </p:nvSpPr>
        <p:spPr>
          <a:xfrm>
            <a:off x="256247" y="4287071"/>
            <a:ext cx="5938522" cy="1743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FF0000"/>
                </a:solidFill>
              </a:rPr>
              <a:t>Validity (</a:t>
            </a:r>
            <a:r>
              <a:rPr lang="ru-RU" sz="1600" b="1" dirty="0">
                <a:solidFill>
                  <a:srgbClr val="FF0000"/>
                </a:solidFill>
              </a:rPr>
              <a:t>валидность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  <a:r>
              <a:rPr lang="ru-RU" sz="1600" b="1" dirty="0">
                <a:solidFill>
                  <a:srgbClr val="FF0000"/>
                </a:solidFill>
              </a:rPr>
              <a:t> </a:t>
            </a:r>
            <a:r>
              <a:rPr lang="ru-RU" sz="1600" b="1" dirty="0"/>
              <a:t>– данные соответствуют формату/диапазону</a:t>
            </a:r>
            <a:endParaRPr lang="ru-RU" sz="1600" dirty="0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ADF69BED-C57F-4329-8015-F663C03B6DDC}"/>
              </a:ext>
            </a:extLst>
          </p:cNvPr>
          <p:cNvSpPr txBox="1">
            <a:spLocks/>
          </p:cNvSpPr>
          <p:nvPr/>
        </p:nvSpPr>
        <p:spPr>
          <a:xfrm>
            <a:off x="256247" y="5114501"/>
            <a:ext cx="5938522" cy="1743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FF0000"/>
                </a:solidFill>
              </a:rPr>
              <a:t>Uniqueness (</a:t>
            </a:r>
            <a:r>
              <a:rPr lang="ru-RU" sz="1600" b="1" dirty="0">
                <a:solidFill>
                  <a:srgbClr val="FF0000"/>
                </a:solidFill>
              </a:rPr>
              <a:t>уникальность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  <a:r>
              <a:rPr lang="ru-RU" sz="1600" b="1" dirty="0">
                <a:solidFill>
                  <a:srgbClr val="FF0000"/>
                </a:solidFill>
              </a:rPr>
              <a:t> </a:t>
            </a:r>
            <a:r>
              <a:rPr lang="ru-RU" sz="1600" b="1" dirty="0"/>
              <a:t>– нет дубликатов</a:t>
            </a:r>
            <a:endParaRPr lang="ru-RU" sz="1600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DBA0EEF1-BA84-406F-979E-EC7C84BA2312}"/>
              </a:ext>
            </a:extLst>
          </p:cNvPr>
          <p:cNvSpPr txBox="1">
            <a:spLocks/>
          </p:cNvSpPr>
          <p:nvPr/>
        </p:nvSpPr>
        <p:spPr>
          <a:xfrm>
            <a:off x="256247" y="5674160"/>
            <a:ext cx="5938522" cy="1743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FF0000"/>
                </a:solidFill>
              </a:rPr>
              <a:t>Timeliness (</a:t>
            </a:r>
            <a:r>
              <a:rPr lang="ru-RU" sz="1600" b="1" dirty="0">
                <a:solidFill>
                  <a:srgbClr val="FF0000"/>
                </a:solidFill>
              </a:rPr>
              <a:t>своевременность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  <a:r>
              <a:rPr lang="ru-RU" sz="1600" b="1" dirty="0">
                <a:solidFill>
                  <a:srgbClr val="FF0000"/>
                </a:solidFill>
              </a:rPr>
              <a:t> </a:t>
            </a:r>
            <a:r>
              <a:rPr lang="ru-RU" sz="1600" b="1" dirty="0"/>
              <a:t>– данные актуальны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8772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657159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solidFill>
                  <a:srgbClr val="FF0000"/>
                </a:solidFill>
              </a:rPr>
              <a:t>Проактивный</a:t>
            </a:r>
            <a:r>
              <a:rPr lang="ru-RU" dirty="0">
                <a:solidFill>
                  <a:srgbClr val="FF0000"/>
                </a:solidFill>
              </a:rPr>
              <a:t> контроль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качества данных</a:t>
            </a:r>
            <a:endParaRPr lang="ru-RS" dirty="0">
              <a:solidFill>
                <a:srgbClr val="EE0F01"/>
              </a:solidFill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D1D70B1-7789-4888-8EA2-26035CE7CC3E}"/>
              </a:ext>
            </a:extLst>
          </p:cNvPr>
          <p:cNvSpPr txBox="1">
            <a:spLocks/>
          </p:cNvSpPr>
          <p:nvPr/>
        </p:nvSpPr>
        <p:spPr>
          <a:xfrm>
            <a:off x="260669" y="2343608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Цель</a:t>
            </a:r>
            <a:r>
              <a:rPr lang="ru-RU" b="1" dirty="0"/>
              <a:t> – не допустить «плохих» данных</a:t>
            </a:r>
            <a:endParaRPr lang="ru-RU" dirty="0"/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6685049E-8E98-4629-9AF1-49C5BCC6B71E}"/>
              </a:ext>
            </a:extLst>
          </p:cNvPr>
          <p:cNvSpPr txBox="1">
            <a:spLocks/>
          </p:cNvSpPr>
          <p:nvPr/>
        </p:nvSpPr>
        <p:spPr>
          <a:xfrm>
            <a:off x="260669" y="2925854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Методы</a:t>
            </a:r>
            <a:endParaRPr lang="ru-RU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18477756-0594-47B4-BAE3-A9A37F747D43}"/>
              </a:ext>
            </a:extLst>
          </p:cNvPr>
          <p:cNvSpPr txBox="1">
            <a:spLocks/>
          </p:cNvSpPr>
          <p:nvPr/>
        </p:nvSpPr>
        <p:spPr>
          <a:xfrm>
            <a:off x="710602" y="3429000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валидация на уровне </a:t>
            </a:r>
            <a:r>
              <a:rPr lang="en-US" b="1" dirty="0"/>
              <a:t>UI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196AE00D-D1C6-4CC8-8945-9BA0DB295B98}"/>
              </a:ext>
            </a:extLst>
          </p:cNvPr>
          <p:cNvSpPr txBox="1">
            <a:spLocks/>
          </p:cNvSpPr>
          <p:nvPr/>
        </p:nvSpPr>
        <p:spPr>
          <a:xfrm>
            <a:off x="710602" y="3985924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строгая схема/модель данных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E5203E8E-3F7A-438E-B110-0C66E2F9A4EB}"/>
              </a:ext>
            </a:extLst>
          </p:cNvPr>
          <p:cNvSpPr txBox="1">
            <a:spLocks/>
          </p:cNvSpPr>
          <p:nvPr/>
        </p:nvSpPr>
        <p:spPr>
          <a:xfrm>
            <a:off x="710602" y="4486573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стандарты и регламенты процессов</a:t>
            </a:r>
            <a:endParaRPr lang="ru-RU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F0D3BA7-BDDA-460F-897F-77A53449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743" y="1035613"/>
            <a:ext cx="3697839" cy="47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657159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Активный контроль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качества данных</a:t>
            </a:r>
            <a:endParaRPr lang="ru-RS" dirty="0">
              <a:solidFill>
                <a:srgbClr val="EE0F0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4602769-28C7-47BF-8B71-47EE0B4E3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76" y="1109538"/>
            <a:ext cx="4715533" cy="4772691"/>
          </a:xfrm>
          <a:prstGeom prst="rect">
            <a:avLst/>
          </a:prstGeom>
        </p:spPr>
      </p:pic>
      <p:sp>
        <p:nvSpPr>
          <p:cNvPr id="17" name="Текст 4">
            <a:extLst>
              <a:ext uri="{FF2B5EF4-FFF2-40B4-BE49-F238E27FC236}">
                <a16:creationId xmlns:a16="http://schemas.microsoft.com/office/drawing/2014/main" id="{BD1D70B1-7789-4888-8EA2-26035CE7CC3E}"/>
              </a:ext>
            </a:extLst>
          </p:cNvPr>
          <p:cNvSpPr txBox="1">
            <a:spLocks/>
          </p:cNvSpPr>
          <p:nvPr/>
        </p:nvSpPr>
        <p:spPr>
          <a:xfrm>
            <a:off x="260669" y="2343608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Цель</a:t>
            </a:r>
            <a:r>
              <a:rPr lang="ru-RU" b="1" dirty="0"/>
              <a:t> – обнаружить проблемы в данных</a:t>
            </a:r>
            <a:endParaRPr lang="ru-RU" dirty="0"/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6685049E-8E98-4629-9AF1-49C5BCC6B71E}"/>
              </a:ext>
            </a:extLst>
          </p:cNvPr>
          <p:cNvSpPr txBox="1">
            <a:spLocks/>
          </p:cNvSpPr>
          <p:nvPr/>
        </p:nvSpPr>
        <p:spPr>
          <a:xfrm>
            <a:off x="260669" y="2925854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Методы</a:t>
            </a:r>
            <a:endParaRPr lang="ru-RU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18477756-0594-47B4-BAE3-A9A37F747D43}"/>
              </a:ext>
            </a:extLst>
          </p:cNvPr>
          <p:cNvSpPr txBox="1">
            <a:spLocks/>
          </p:cNvSpPr>
          <p:nvPr/>
        </p:nvSpPr>
        <p:spPr>
          <a:xfrm>
            <a:off x="710602" y="3429000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профилирование данных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196AE00D-D1C6-4CC8-8945-9BA0DB295B98}"/>
              </a:ext>
            </a:extLst>
          </p:cNvPr>
          <p:cNvSpPr txBox="1">
            <a:spLocks/>
          </p:cNvSpPr>
          <p:nvPr/>
        </p:nvSpPr>
        <p:spPr>
          <a:xfrm>
            <a:off x="710602" y="3985924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правила и проверки (</a:t>
            </a:r>
            <a:r>
              <a:rPr lang="en-US" b="1" dirty="0"/>
              <a:t>SQL, Great expectations, Soda core, </a:t>
            </a:r>
            <a:r>
              <a:rPr lang="en-US" b="1" dirty="0" err="1"/>
              <a:t>dbt</a:t>
            </a:r>
            <a:r>
              <a:rPr lang="en-US" b="1" dirty="0"/>
              <a:t> tests</a:t>
            </a:r>
            <a:r>
              <a:rPr lang="ru-RU" b="1" dirty="0"/>
              <a:t>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E5203E8E-3F7A-438E-B110-0C66E2F9A4EB}"/>
              </a:ext>
            </a:extLst>
          </p:cNvPr>
          <p:cNvSpPr txBox="1">
            <a:spLocks/>
          </p:cNvSpPr>
          <p:nvPr/>
        </p:nvSpPr>
        <p:spPr>
          <a:xfrm>
            <a:off x="710601" y="4734712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мониторинг дрейфа данных (слежение за изменением статистических характеристик данных)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583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7C38DA2-16AA-40FD-970A-D1FAA04C5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188" y="934312"/>
            <a:ext cx="3266771" cy="4989376"/>
          </a:xfrm>
          <a:prstGeom prst="rect">
            <a:avLst/>
          </a:prstGeom>
        </p:spPr>
      </p:pic>
      <p:sp>
        <p:nvSpPr>
          <p:cNvPr id="14" name="Текст 3">
            <a:extLst>
              <a:ext uri="{FF2B5EF4-FFF2-40B4-BE49-F238E27FC236}">
                <a16:creationId xmlns:a16="http://schemas.microsoft.com/office/drawing/2014/main" id="{0C29A4B1-7910-42DE-BA9F-8F2C5B3173B2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657159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Реактивный контроль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качества данных</a:t>
            </a:r>
            <a:endParaRPr lang="ru-RS" dirty="0">
              <a:solidFill>
                <a:srgbClr val="EE0F01"/>
              </a:solidFill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7865DD6-BEF3-4190-BCD7-110F6A83FC9A}"/>
              </a:ext>
            </a:extLst>
          </p:cNvPr>
          <p:cNvSpPr txBox="1">
            <a:spLocks/>
          </p:cNvSpPr>
          <p:nvPr/>
        </p:nvSpPr>
        <p:spPr>
          <a:xfrm>
            <a:off x="260669" y="2343608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Цель</a:t>
            </a:r>
            <a:r>
              <a:rPr lang="ru-RU" b="1" dirty="0"/>
              <a:t> – сообщить об ошибках в данных и исправить их</a:t>
            </a:r>
            <a:endParaRPr lang="ru-RU" dirty="0"/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F8F247B3-4DBE-4A5C-904E-86C03B6CF3AC}"/>
              </a:ext>
            </a:extLst>
          </p:cNvPr>
          <p:cNvSpPr txBox="1">
            <a:spLocks/>
          </p:cNvSpPr>
          <p:nvPr/>
        </p:nvSpPr>
        <p:spPr>
          <a:xfrm>
            <a:off x="259087" y="3427046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Методы</a:t>
            </a:r>
            <a:endParaRPr lang="ru-RU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859966BA-5803-452E-A297-296E7B2E9B33}"/>
              </a:ext>
            </a:extLst>
          </p:cNvPr>
          <p:cNvSpPr txBox="1">
            <a:spLocks/>
          </p:cNvSpPr>
          <p:nvPr/>
        </p:nvSpPr>
        <p:spPr>
          <a:xfrm>
            <a:off x="709020" y="3930192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процедуры очистки</a:t>
            </a:r>
            <a:endParaRPr lang="ru-RU" dirty="0"/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772FDB6B-69C6-4E4F-99D9-709F41E4E40A}"/>
              </a:ext>
            </a:extLst>
          </p:cNvPr>
          <p:cNvSpPr txBox="1">
            <a:spLocks/>
          </p:cNvSpPr>
          <p:nvPr/>
        </p:nvSpPr>
        <p:spPr>
          <a:xfrm>
            <a:off x="709020" y="4487116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система </a:t>
            </a:r>
            <a:r>
              <a:rPr lang="ru-RU" b="1" dirty="0" err="1"/>
              <a:t>тикетов</a:t>
            </a:r>
            <a:r>
              <a:rPr lang="ru-RU" b="1" dirty="0"/>
              <a:t> и оповещений</a:t>
            </a:r>
            <a:endParaRPr lang="ru-RU" dirty="0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1B7B333-FEFE-4ECC-8756-05A48244FF1A}"/>
              </a:ext>
            </a:extLst>
          </p:cNvPr>
          <p:cNvSpPr txBox="1">
            <a:spLocks/>
          </p:cNvSpPr>
          <p:nvPr/>
        </p:nvSpPr>
        <p:spPr>
          <a:xfrm>
            <a:off x="709020" y="5044040"/>
            <a:ext cx="4858409" cy="720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- </a:t>
            </a:r>
            <a:r>
              <a:rPr lang="ru-RU" b="1" dirty="0" err="1"/>
              <a:t>дашборды</a:t>
            </a:r>
            <a:r>
              <a:rPr lang="ru-RU" b="1" dirty="0"/>
              <a:t> качества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278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620423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Пример </a:t>
            </a:r>
            <a:r>
              <a:rPr lang="ru-RU" dirty="0" err="1">
                <a:solidFill>
                  <a:schemeClr val="bg1"/>
                </a:solidFill>
              </a:rPr>
              <a:t>пайплайна</a:t>
            </a:r>
            <a:r>
              <a:rPr lang="ru-RU" dirty="0">
                <a:solidFill>
                  <a:schemeClr val="bg1"/>
                </a:solidFill>
              </a:rPr>
              <a:t> с </a:t>
            </a:r>
            <a:r>
              <a:rPr lang="en-US" dirty="0">
                <a:solidFill>
                  <a:srgbClr val="FF0000"/>
                </a:solidFill>
              </a:rPr>
              <a:t>DQ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186C74-866E-45DC-BF6B-9D409364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476" y="1109538"/>
            <a:ext cx="4715533" cy="477269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52BDE5F-AF06-4A0D-A273-50E0F5FDCC54}"/>
              </a:ext>
            </a:extLst>
          </p:cNvPr>
          <p:cNvGrpSpPr/>
          <p:nvPr/>
        </p:nvGrpSpPr>
        <p:grpSpPr>
          <a:xfrm>
            <a:off x="395384" y="2092432"/>
            <a:ext cx="2089907" cy="1393229"/>
            <a:chOff x="164302" y="1690495"/>
            <a:chExt cx="4241443" cy="25492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EA5AE0-AFF6-464F-A721-30E500732D47}"/>
                </a:ext>
              </a:extLst>
            </p:cNvPr>
            <p:cNvSpPr txBox="1"/>
            <p:nvPr/>
          </p:nvSpPr>
          <p:spPr>
            <a:xfrm>
              <a:off x="259086" y="1758723"/>
              <a:ext cx="4146659" cy="24809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Источник данных</a:t>
              </a:r>
              <a:r>
                <a: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(сырые данные)</a:t>
              </a:r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C6E980CF-FA84-4F52-91F5-B1CBD2E9AAE3}"/>
                </a:ext>
              </a:extLst>
            </p:cNvPr>
            <p:cNvSpPr/>
            <p:nvPr/>
          </p:nvSpPr>
          <p:spPr>
            <a:xfrm>
              <a:off x="164302" y="1690495"/>
              <a:ext cx="4146658" cy="1336809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15EAEAF-4848-4E27-A653-916FAF371C06}"/>
              </a:ext>
            </a:extLst>
          </p:cNvPr>
          <p:cNvGrpSpPr/>
          <p:nvPr/>
        </p:nvGrpSpPr>
        <p:grpSpPr>
          <a:xfrm>
            <a:off x="2888444" y="2092432"/>
            <a:ext cx="2691741" cy="868286"/>
            <a:chOff x="164302" y="1690495"/>
            <a:chExt cx="4241443" cy="158871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C0AFF6-FE4E-434E-8094-E51DFE18A2AB}"/>
                </a:ext>
              </a:extLst>
            </p:cNvPr>
            <p:cNvSpPr txBox="1"/>
            <p:nvPr/>
          </p:nvSpPr>
          <p:spPr>
            <a:xfrm>
              <a:off x="259085" y="1758723"/>
              <a:ext cx="4146660" cy="15204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Профилирование</a:t>
              </a:r>
              <a:r>
                <a: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(понимание состояния)</a:t>
              </a:r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B6704FF7-1573-404D-B1EC-04C5A22E0934}"/>
                </a:ext>
              </a:extLst>
            </p:cNvPr>
            <p:cNvSpPr/>
            <p:nvPr/>
          </p:nvSpPr>
          <p:spPr>
            <a:xfrm>
              <a:off x="164302" y="1690495"/>
              <a:ext cx="4146658" cy="1336809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1C83B88-1994-4E2F-8070-A9B868A42C35}"/>
              </a:ext>
            </a:extLst>
          </p:cNvPr>
          <p:cNvGrpSpPr/>
          <p:nvPr/>
        </p:nvGrpSpPr>
        <p:grpSpPr>
          <a:xfrm>
            <a:off x="2063455" y="3129370"/>
            <a:ext cx="2178205" cy="1477458"/>
            <a:chOff x="164302" y="1690495"/>
            <a:chExt cx="4241443" cy="158871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09DC1A-1668-473C-8946-475555FDB56B}"/>
                </a:ext>
              </a:extLst>
            </p:cNvPr>
            <p:cNvSpPr txBox="1"/>
            <p:nvPr/>
          </p:nvSpPr>
          <p:spPr>
            <a:xfrm>
              <a:off x="259085" y="1758723"/>
              <a:ext cx="4146660" cy="15204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Запуск </a:t>
              </a:r>
              <a:r>
                <a:rPr lang="en-US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DQ</a:t>
              </a:r>
              <a:r>
                <a:rPr lang="ru-RU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-правил</a:t>
              </a:r>
              <a:r>
                <a: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(на основе метрик перед загрузкой в витрину)</a:t>
              </a:r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20831D7A-2D25-4411-B64C-D51E36A769CC}"/>
                </a:ext>
              </a:extLst>
            </p:cNvPr>
            <p:cNvSpPr/>
            <p:nvPr/>
          </p:nvSpPr>
          <p:spPr>
            <a:xfrm>
              <a:off x="164302" y="1690495"/>
              <a:ext cx="4146658" cy="1336809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74DF238-5FAF-4CE4-A41C-539F83A71E82}"/>
              </a:ext>
            </a:extLst>
          </p:cNvPr>
          <p:cNvGrpSpPr/>
          <p:nvPr/>
        </p:nvGrpSpPr>
        <p:grpSpPr>
          <a:xfrm>
            <a:off x="395384" y="4121206"/>
            <a:ext cx="1411230" cy="730611"/>
            <a:chOff x="164302" y="1690495"/>
            <a:chExt cx="4241443" cy="133680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F5BB65-EBB5-4462-8DCD-0EEEACDD0BAA}"/>
                </a:ext>
              </a:extLst>
            </p:cNvPr>
            <p:cNvSpPr txBox="1"/>
            <p:nvPr/>
          </p:nvSpPr>
          <p:spPr>
            <a:xfrm>
              <a:off x="259085" y="1758723"/>
              <a:ext cx="4146660" cy="619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Проверка провалена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7A4FBA95-70D3-435B-AC75-0283E9104DE8}"/>
                </a:ext>
              </a:extLst>
            </p:cNvPr>
            <p:cNvSpPr/>
            <p:nvPr/>
          </p:nvSpPr>
          <p:spPr>
            <a:xfrm>
              <a:off x="164302" y="1690495"/>
              <a:ext cx="4146658" cy="1336809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D471F037-F9C7-445E-BAFE-7564EDB3C75C}"/>
              </a:ext>
            </a:extLst>
          </p:cNvPr>
          <p:cNvGrpSpPr/>
          <p:nvPr/>
        </p:nvGrpSpPr>
        <p:grpSpPr>
          <a:xfrm>
            <a:off x="4171594" y="5307676"/>
            <a:ext cx="1610227" cy="960011"/>
            <a:chOff x="164302" y="1690495"/>
            <a:chExt cx="4241443" cy="133680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719C64-C4B1-4A52-A873-50A558E37374}"/>
                </a:ext>
              </a:extLst>
            </p:cNvPr>
            <p:cNvSpPr txBox="1"/>
            <p:nvPr/>
          </p:nvSpPr>
          <p:spPr>
            <a:xfrm>
              <a:off x="259086" y="1758723"/>
              <a:ext cx="4146659" cy="10699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Данные загружаются дальше</a:t>
              </a:r>
            </a:p>
          </p:txBody>
        </p: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986C9DAA-16B0-4308-9068-19A5390C0C9A}"/>
                </a:ext>
              </a:extLst>
            </p:cNvPr>
            <p:cNvSpPr/>
            <p:nvPr/>
          </p:nvSpPr>
          <p:spPr>
            <a:xfrm>
              <a:off x="164302" y="1690495"/>
              <a:ext cx="4146658" cy="1336809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40ABE5D8-6DDB-4C7C-91F4-299A808AE358}"/>
              </a:ext>
            </a:extLst>
          </p:cNvPr>
          <p:cNvGrpSpPr/>
          <p:nvPr/>
        </p:nvGrpSpPr>
        <p:grpSpPr>
          <a:xfrm>
            <a:off x="397290" y="5256498"/>
            <a:ext cx="2132797" cy="1191688"/>
            <a:chOff x="164302" y="1690495"/>
            <a:chExt cx="4241443" cy="158871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C802AE-7D20-4124-8991-04B6825BAF8D}"/>
                </a:ext>
              </a:extLst>
            </p:cNvPr>
            <p:cNvSpPr txBox="1"/>
            <p:nvPr/>
          </p:nvSpPr>
          <p:spPr>
            <a:xfrm>
              <a:off x="259085" y="1758723"/>
              <a:ext cx="4146660" cy="15204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Пайплайн</a:t>
              </a:r>
              <a:r>
                <a: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падает, отправляется оповещение</a:t>
              </a:r>
            </a:p>
          </p:txBody>
        </p:sp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B2B857CB-B465-4F47-B9FB-6B783B8491E7}"/>
                </a:ext>
              </a:extLst>
            </p:cNvPr>
            <p:cNvSpPr/>
            <p:nvPr/>
          </p:nvSpPr>
          <p:spPr>
            <a:xfrm>
              <a:off x="164302" y="1690495"/>
              <a:ext cx="4146658" cy="1336809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4ECE1C02-2325-47A2-8547-7EB1791D4C4D}"/>
              </a:ext>
            </a:extLst>
          </p:cNvPr>
          <p:cNvGrpSpPr/>
          <p:nvPr/>
        </p:nvGrpSpPr>
        <p:grpSpPr>
          <a:xfrm>
            <a:off x="4494682" y="4081569"/>
            <a:ext cx="1316561" cy="730611"/>
            <a:chOff x="164302" y="1690495"/>
            <a:chExt cx="4241443" cy="133680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138CE9-8814-449B-9C11-0E2B2DF0F2FE}"/>
                </a:ext>
              </a:extLst>
            </p:cNvPr>
            <p:cNvSpPr txBox="1"/>
            <p:nvPr/>
          </p:nvSpPr>
          <p:spPr>
            <a:xfrm>
              <a:off x="259085" y="1758723"/>
              <a:ext cx="4146660" cy="619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Проверка пройдена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07541C00-BA49-4246-B109-628BD6993D1E}"/>
                </a:ext>
              </a:extLst>
            </p:cNvPr>
            <p:cNvSpPr/>
            <p:nvPr/>
          </p:nvSpPr>
          <p:spPr>
            <a:xfrm>
              <a:off x="164302" y="1690495"/>
              <a:ext cx="4146658" cy="1336809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4D6AE6A-AAFC-40CD-A1B4-6EA4EA376F44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2438587" y="2457738"/>
            <a:ext cx="449857" cy="0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3251E46-1F48-4D11-AEC2-BC74BF6D94A8}"/>
              </a:ext>
            </a:extLst>
          </p:cNvPr>
          <p:cNvCxnSpPr>
            <a:cxnSpLocks/>
          </p:cNvCxnSpPr>
          <p:nvPr/>
        </p:nvCxnSpPr>
        <p:spPr>
          <a:xfrm>
            <a:off x="3505387" y="2823043"/>
            <a:ext cx="0" cy="306327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F4038BB0-0B48-4D3A-BF87-5EC856091CAC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958715" y="4812179"/>
            <a:ext cx="1" cy="495497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94DA801-B79E-4C45-B383-23B3E943FBED}"/>
              </a:ext>
            </a:extLst>
          </p:cNvPr>
          <p:cNvCxnSpPr>
            <a:cxnSpLocks/>
          </p:cNvCxnSpPr>
          <p:nvPr/>
        </p:nvCxnSpPr>
        <p:spPr>
          <a:xfrm>
            <a:off x="1104930" y="4867079"/>
            <a:ext cx="0" cy="389419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715FE73E-8510-4369-80A8-CDD189C68815}"/>
              </a:ext>
            </a:extLst>
          </p:cNvPr>
          <p:cNvCxnSpPr>
            <a:endCxn id="25" idx="0"/>
          </p:cNvCxnSpPr>
          <p:nvPr/>
        </p:nvCxnSpPr>
        <p:spPr>
          <a:xfrm rot="10800000" flipV="1">
            <a:off x="1085231" y="3495882"/>
            <a:ext cx="978224" cy="625323"/>
          </a:xfrm>
          <a:prstGeom prst="bentConnector2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: уступ 44">
            <a:extLst>
              <a:ext uri="{FF2B5EF4-FFF2-40B4-BE49-F238E27FC236}">
                <a16:creationId xmlns:a16="http://schemas.microsoft.com/office/drawing/2014/main" id="{308F8A7C-4557-43DC-B0E7-5037C879BA44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192983" y="3496013"/>
            <a:ext cx="945269" cy="585556"/>
          </a:xfrm>
          <a:prstGeom prst="bentConnector2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21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8" y="1124744"/>
            <a:ext cx="508663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Действия для </a:t>
            </a:r>
            <a:r>
              <a:rPr lang="ru-RU" dirty="0">
                <a:solidFill>
                  <a:srgbClr val="FF0000"/>
                </a:solidFill>
              </a:rPr>
              <a:t>качественного </a:t>
            </a:r>
            <a:r>
              <a:rPr lang="en-US" dirty="0">
                <a:solidFill>
                  <a:srgbClr val="FF0000"/>
                </a:solidFill>
              </a:rPr>
              <a:t>DQ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8A4534-8B8B-4413-9B3A-388E81CC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122" y="1041902"/>
            <a:ext cx="2575625" cy="4772483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9F99076C-9082-4DBB-AB6E-A44939D6CF64}"/>
              </a:ext>
            </a:extLst>
          </p:cNvPr>
          <p:cNvSpPr txBox="1">
            <a:spLocks/>
          </p:cNvSpPr>
          <p:nvPr/>
        </p:nvSpPr>
        <p:spPr>
          <a:xfrm>
            <a:off x="260669" y="2343608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Оценить текущее состояние</a:t>
            </a:r>
            <a:r>
              <a:rPr lang="ru-RU" b="1" dirty="0"/>
              <a:t> – начините с профилирования одного-двух ключевых источников</a:t>
            </a:r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58AE1A0-177B-470D-945D-8552394AE8D2}"/>
              </a:ext>
            </a:extLst>
          </p:cNvPr>
          <p:cNvSpPr txBox="1">
            <a:spLocks/>
          </p:cNvSpPr>
          <p:nvPr/>
        </p:nvSpPr>
        <p:spPr>
          <a:xfrm>
            <a:off x="260669" y="3428143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Определить приоритеты </a:t>
            </a:r>
            <a:r>
              <a:rPr lang="ru-RU" b="1" dirty="0"/>
              <a:t>– какие метрики наиболее важны и критичны для бизнеса</a:t>
            </a:r>
            <a:endParaRPr lang="ru-RU" dirty="0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E0278D81-7B61-4A85-8DC2-6ADB6D274132}"/>
              </a:ext>
            </a:extLst>
          </p:cNvPr>
          <p:cNvSpPr txBox="1">
            <a:spLocks/>
          </p:cNvSpPr>
          <p:nvPr/>
        </p:nvSpPr>
        <p:spPr>
          <a:xfrm>
            <a:off x="259088" y="4307373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Внедрить первые проверки </a:t>
            </a:r>
            <a:r>
              <a:rPr lang="ru-RU" b="1" dirty="0"/>
              <a:t>– начините с 3-5 самых важных правил</a:t>
            </a:r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5EB5D0F-7634-4B3E-B82E-9435B11116EB}"/>
              </a:ext>
            </a:extLst>
          </p:cNvPr>
          <p:cNvSpPr txBox="1">
            <a:spLocks/>
          </p:cNvSpPr>
          <p:nvPr/>
        </p:nvSpPr>
        <p:spPr>
          <a:xfrm>
            <a:off x="257507" y="5231926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Назначить ответственных </a:t>
            </a:r>
            <a:r>
              <a:rPr lang="ru-RU" b="1" dirty="0"/>
              <a:t>– кто будет исправлять данные и реагировать на </a:t>
            </a:r>
            <a:r>
              <a:rPr lang="ru-RU" b="1" dirty="0" err="1"/>
              <a:t>алерты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449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C29A4B1-7910-42DE-BA9F-8F2C5B3173B2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657159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Готовые инструменты</a:t>
            </a:r>
            <a:endParaRPr lang="ru-RS" dirty="0">
              <a:solidFill>
                <a:srgbClr val="EE0F01"/>
              </a:solidFill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7865DD6-BEF3-4190-BCD7-110F6A83FC9A}"/>
              </a:ext>
            </a:extLst>
          </p:cNvPr>
          <p:cNvSpPr txBox="1">
            <a:spLocks/>
          </p:cNvSpPr>
          <p:nvPr/>
        </p:nvSpPr>
        <p:spPr>
          <a:xfrm>
            <a:off x="259087" y="2226377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Открытые (</a:t>
            </a:r>
            <a:r>
              <a:rPr lang="en-US" b="1" dirty="0">
                <a:solidFill>
                  <a:srgbClr val="FF0000"/>
                </a:solidFill>
              </a:rPr>
              <a:t>open-source)</a:t>
            </a:r>
            <a:r>
              <a:rPr lang="ru-RU" b="1" dirty="0"/>
              <a:t> – </a:t>
            </a:r>
            <a:r>
              <a:rPr lang="en-US" b="1" dirty="0"/>
              <a:t>Great expectations, Soda core, Apache Griffin, </a:t>
            </a:r>
            <a:r>
              <a:rPr lang="en-US" b="1" dirty="0" err="1"/>
              <a:t>Deequ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9EF3FB-2045-4C51-A30F-000FD6351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8" y="1209963"/>
            <a:ext cx="4507191" cy="4781915"/>
          </a:xfrm>
          <a:prstGeom prst="rect">
            <a:avLst/>
          </a:prstGeom>
        </p:spPr>
      </p:pic>
      <p:sp>
        <p:nvSpPr>
          <p:cNvPr id="11" name="Текст 4">
            <a:extLst>
              <a:ext uri="{FF2B5EF4-FFF2-40B4-BE49-F238E27FC236}">
                <a16:creationId xmlns:a16="http://schemas.microsoft.com/office/drawing/2014/main" id="{21D7E1FE-B69C-40C6-AB46-6F531DF55F45}"/>
              </a:ext>
            </a:extLst>
          </p:cNvPr>
          <p:cNvSpPr txBox="1">
            <a:spLocks/>
          </p:cNvSpPr>
          <p:nvPr/>
        </p:nvSpPr>
        <p:spPr>
          <a:xfrm>
            <a:off x="259087" y="3246285"/>
            <a:ext cx="5475823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В составе платформ/инструментов</a:t>
            </a:r>
            <a:r>
              <a:rPr lang="ru-RU" b="1" dirty="0"/>
              <a:t> – </a:t>
            </a:r>
            <a:r>
              <a:rPr lang="en-US" b="1" dirty="0" err="1"/>
              <a:t>dbt</a:t>
            </a:r>
            <a:r>
              <a:rPr lang="en-US" b="1" dirty="0"/>
              <a:t> tests, Informatica, Talend</a:t>
            </a:r>
            <a:endParaRPr lang="ru-RU" dirty="0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40BDB238-044B-459B-8019-FA9CB1CA9D66}"/>
              </a:ext>
            </a:extLst>
          </p:cNvPr>
          <p:cNvSpPr txBox="1">
            <a:spLocks/>
          </p:cNvSpPr>
          <p:nvPr/>
        </p:nvSpPr>
        <p:spPr>
          <a:xfrm>
            <a:off x="259087" y="4265729"/>
            <a:ext cx="5749362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Корпоративные (</a:t>
            </a:r>
            <a:r>
              <a:rPr lang="en-US" b="1" dirty="0">
                <a:solidFill>
                  <a:srgbClr val="FF0000"/>
                </a:solidFill>
              </a:rPr>
              <a:t>commercial)</a:t>
            </a:r>
            <a:r>
              <a:rPr lang="ru-RU" b="1" dirty="0"/>
              <a:t> – </a:t>
            </a:r>
            <a:r>
              <a:rPr lang="en-US" b="1" dirty="0"/>
              <a:t>Monte Carlo, </a:t>
            </a:r>
            <a:r>
              <a:rPr lang="en-US" b="1" dirty="0" err="1"/>
              <a:t>Acceldata</a:t>
            </a:r>
            <a:r>
              <a:rPr lang="en-US" b="1" dirty="0"/>
              <a:t>, Collibra</a:t>
            </a:r>
            <a:endParaRPr lang="ru-RU" dirty="0"/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BE99272-494E-4E28-B71A-95439140E81E}"/>
              </a:ext>
            </a:extLst>
          </p:cNvPr>
          <p:cNvSpPr txBox="1">
            <a:spLocks/>
          </p:cNvSpPr>
          <p:nvPr/>
        </p:nvSpPr>
        <p:spPr>
          <a:xfrm>
            <a:off x="259087" y="5231926"/>
            <a:ext cx="5749362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err="1">
                <a:solidFill>
                  <a:srgbClr val="FF0000"/>
                </a:solidFill>
              </a:rPr>
              <a:t>Самописные</a:t>
            </a:r>
            <a:r>
              <a:rPr lang="ru-RU" b="1" dirty="0">
                <a:solidFill>
                  <a:srgbClr val="FF0000"/>
                </a:solidFill>
              </a:rPr>
              <a:t> (</a:t>
            </a:r>
            <a:r>
              <a:rPr lang="en-US" b="1" dirty="0">
                <a:solidFill>
                  <a:srgbClr val="FF0000"/>
                </a:solidFill>
              </a:rPr>
              <a:t>self-made)</a:t>
            </a:r>
            <a:r>
              <a:rPr lang="ru-RU" b="1" dirty="0"/>
              <a:t> – </a:t>
            </a:r>
            <a:r>
              <a:rPr lang="en-US" b="1" dirty="0"/>
              <a:t>SQL</a:t>
            </a:r>
            <a:r>
              <a:rPr lang="ru-RU" b="1" dirty="0"/>
              <a:t>-скрипты, </a:t>
            </a:r>
            <a:r>
              <a:rPr lang="en-US" b="1" dirty="0"/>
              <a:t>python-</a:t>
            </a:r>
            <a:r>
              <a:rPr lang="ru-RU" b="1" dirty="0"/>
              <a:t>скрипты и прочее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176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8" y="1124744"/>
            <a:ext cx="508663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А что </a:t>
            </a:r>
            <a:r>
              <a:rPr lang="ru-RU" dirty="0">
                <a:solidFill>
                  <a:srgbClr val="FF0000"/>
                </a:solidFill>
              </a:rPr>
              <a:t>Магнит?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90D58D-B223-492E-9A71-41E3BB5CD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8" t="7602" r="2807" b="56491"/>
          <a:stretch/>
        </p:blipFill>
        <p:spPr>
          <a:xfrm>
            <a:off x="7733116" y="1326352"/>
            <a:ext cx="3192791" cy="3905127"/>
          </a:xfrm>
          <a:prstGeom prst="rect">
            <a:avLst/>
          </a:prstGeom>
        </p:spPr>
      </p:pic>
      <p:sp>
        <p:nvSpPr>
          <p:cNvPr id="13" name="Текст 4">
            <a:extLst>
              <a:ext uri="{FF2B5EF4-FFF2-40B4-BE49-F238E27FC236}">
                <a16:creationId xmlns:a16="http://schemas.microsoft.com/office/drawing/2014/main" id="{010DF204-6ABE-4B62-8D59-5B5E3FD3073C}"/>
              </a:ext>
            </a:extLst>
          </p:cNvPr>
          <p:cNvSpPr txBox="1">
            <a:spLocks/>
          </p:cNvSpPr>
          <p:nvPr/>
        </p:nvSpPr>
        <p:spPr>
          <a:xfrm>
            <a:off x="259088" y="1710722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Портал </a:t>
            </a:r>
            <a:r>
              <a:rPr lang="en-US" b="1" dirty="0" err="1">
                <a:solidFill>
                  <a:srgbClr val="FF0000"/>
                </a:solidFill>
              </a:rPr>
              <a:t>Magnit</a:t>
            </a:r>
            <a:r>
              <a:rPr lang="en-US" b="1" dirty="0">
                <a:solidFill>
                  <a:srgbClr val="FF0000"/>
                </a:solidFill>
              </a:rPr>
              <a:t> Data</a:t>
            </a:r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D5865E1E-5E5F-4237-85FC-C9A238729B66}"/>
              </a:ext>
            </a:extLst>
          </p:cNvPr>
          <p:cNvSpPr txBox="1">
            <a:spLocks/>
          </p:cNvSpPr>
          <p:nvPr/>
        </p:nvSpPr>
        <p:spPr>
          <a:xfrm>
            <a:off x="516520" y="2025555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ru-RU" dirty="0"/>
              <a:t>описание имеющихся данных</a:t>
            </a:r>
          </a:p>
          <a:p>
            <a:pPr marL="342900" indent="-342900">
              <a:buFontTx/>
              <a:buChar char="-"/>
            </a:pPr>
            <a:r>
              <a:rPr lang="ru-RU" dirty="0"/>
              <a:t>бизнес-глоссарий данных</a:t>
            </a:r>
          </a:p>
          <a:p>
            <a:pPr marL="342900" indent="-342900">
              <a:buFontTx/>
              <a:buChar char="-"/>
            </a:pPr>
            <a:r>
              <a:rPr lang="ru-RU" dirty="0"/>
              <a:t>база нормативных документов по управлению данными</a:t>
            </a:r>
          </a:p>
          <a:p>
            <a:pPr marL="342900" indent="-342900">
              <a:buFontTx/>
              <a:buChar char="-"/>
            </a:pPr>
            <a:r>
              <a:rPr lang="ru-RU" dirty="0"/>
              <a:t>информация о происхождении данных</a:t>
            </a:r>
          </a:p>
          <a:p>
            <a:pPr marL="342900" indent="-342900">
              <a:buFontTx/>
              <a:buChar char="-"/>
            </a:pPr>
            <a:r>
              <a:rPr lang="en-US" dirty="0"/>
              <a:t>data community</a:t>
            </a:r>
          </a:p>
          <a:p>
            <a:pPr marL="342900" indent="-342900">
              <a:buFontTx/>
              <a:buChar char="-"/>
            </a:pPr>
            <a:r>
              <a:rPr lang="ru-RU" dirty="0"/>
              <a:t>центр обмена сырыми данными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8B42E6DF-A068-4710-8AC5-C93A5115326B}"/>
              </a:ext>
            </a:extLst>
          </p:cNvPr>
          <p:cNvSpPr txBox="1">
            <a:spLocks/>
          </p:cNvSpPr>
          <p:nvPr/>
        </p:nvSpPr>
        <p:spPr>
          <a:xfrm>
            <a:off x="259088" y="4427544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</a:rPr>
              <a:t>dbt</a:t>
            </a:r>
            <a:r>
              <a:rPr lang="en-US" b="1" dirty="0">
                <a:solidFill>
                  <a:srgbClr val="FF0000"/>
                </a:solidFill>
              </a:rPr>
              <a:t> Docs</a:t>
            </a:r>
            <a:r>
              <a:rPr lang="en-US" b="1" dirty="0"/>
              <a:t> </a:t>
            </a:r>
            <a:r>
              <a:rPr lang="ru-RU" b="1" dirty="0"/>
              <a:t>программы лояльности Магнит</a:t>
            </a:r>
            <a:endParaRPr lang="ru-RU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1EDA98EC-D3B4-4AB7-B5E3-8AD96B372151}"/>
              </a:ext>
            </a:extLst>
          </p:cNvPr>
          <p:cNvSpPr txBox="1">
            <a:spLocks/>
          </p:cNvSpPr>
          <p:nvPr/>
        </p:nvSpPr>
        <p:spPr>
          <a:xfrm>
            <a:off x="516520" y="4742377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ru-RU" dirty="0"/>
              <a:t>описание имеющихся данных</a:t>
            </a:r>
          </a:p>
          <a:p>
            <a:pPr marL="342900" indent="-342900">
              <a:buFontTx/>
              <a:buChar char="-"/>
            </a:pPr>
            <a:r>
              <a:rPr lang="en-US" dirty="0"/>
              <a:t>lineage </a:t>
            </a:r>
            <a:r>
              <a:rPr lang="ru-RU" dirty="0"/>
              <a:t>зависимостей витрин с данными</a:t>
            </a:r>
          </a:p>
          <a:p>
            <a:pPr marL="342900" indent="-342900">
              <a:buFontTx/>
              <a:buChar char="-"/>
            </a:pPr>
            <a:r>
              <a:rPr lang="en-US" dirty="0"/>
              <a:t>SQL-</a:t>
            </a:r>
            <a:r>
              <a:rPr lang="ru-RU" dirty="0"/>
              <a:t>код формирования витрин данных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964C9330-E455-47DF-BF84-522A86D03E45}"/>
              </a:ext>
            </a:extLst>
          </p:cNvPr>
          <p:cNvSpPr txBox="1">
            <a:spLocks/>
          </p:cNvSpPr>
          <p:nvPr/>
        </p:nvSpPr>
        <p:spPr>
          <a:xfrm>
            <a:off x="259088" y="5776017"/>
            <a:ext cx="6022900" cy="544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err="1">
                <a:solidFill>
                  <a:srgbClr val="FF0000"/>
                </a:solidFill>
              </a:rPr>
              <a:t>Тикеты</a:t>
            </a:r>
            <a:r>
              <a:rPr lang="ru-RU" b="1" dirty="0">
                <a:solidFill>
                  <a:srgbClr val="FF0000"/>
                </a:solidFill>
              </a:rPr>
              <a:t> и оповещения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663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8" y="1124744"/>
            <a:ext cx="508663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Выводы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8A4534-8B8B-4413-9B3A-388E81CC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122" y="1041902"/>
            <a:ext cx="2575625" cy="4772483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9F99076C-9082-4DBB-AB6E-A44939D6CF64}"/>
              </a:ext>
            </a:extLst>
          </p:cNvPr>
          <p:cNvSpPr txBox="1">
            <a:spLocks/>
          </p:cNvSpPr>
          <p:nvPr/>
        </p:nvSpPr>
        <p:spPr>
          <a:xfrm>
            <a:off x="1023415" y="1780395"/>
            <a:ext cx="4173816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Качество</a:t>
            </a:r>
            <a:r>
              <a:rPr lang="ru-RU" b="1" dirty="0"/>
              <a:t> – это не абсолютная истина, а соответствие целям</a:t>
            </a:r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58AE1A0-177B-470D-945D-8552394AE8D2}"/>
              </a:ext>
            </a:extLst>
          </p:cNvPr>
          <p:cNvSpPr txBox="1">
            <a:spLocks/>
          </p:cNvSpPr>
          <p:nvPr/>
        </p:nvSpPr>
        <p:spPr>
          <a:xfrm>
            <a:off x="1023415" y="3389224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Вместо реактивного исправления </a:t>
            </a:r>
            <a:r>
              <a:rPr lang="ru-RU" b="1" dirty="0" err="1">
                <a:solidFill>
                  <a:srgbClr val="FF0000"/>
                </a:solidFill>
              </a:rPr>
              <a:t>проактивное</a:t>
            </a:r>
            <a:r>
              <a:rPr lang="ru-RU" b="1" dirty="0">
                <a:solidFill>
                  <a:srgbClr val="FF0000"/>
                </a:solidFill>
              </a:rPr>
              <a:t> предотвращение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E0278D81-7B61-4A85-8DC2-6ADB6D274132}"/>
              </a:ext>
            </a:extLst>
          </p:cNvPr>
          <p:cNvSpPr txBox="1">
            <a:spLocks/>
          </p:cNvSpPr>
          <p:nvPr/>
        </p:nvSpPr>
        <p:spPr>
          <a:xfrm>
            <a:off x="1023415" y="4218922"/>
            <a:ext cx="46740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Автоматизация </a:t>
            </a:r>
            <a:r>
              <a:rPr lang="ru-RU" b="1" dirty="0"/>
              <a:t>проверок, система </a:t>
            </a:r>
            <a:r>
              <a:rPr lang="ru-RU" b="1" dirty="0" err="1"/>
              <a:t>тикетов</a:t>
            </a:r>
            <a:r>
              <a:rPr lang="ru-RU" b="1" dirty="0"/>
              <a:t> и оповещений</a:t>
            </a:r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5EB5D0F-7634-4B3E-B82E-9435B11116EB}"/>
              </a:ext>
            </a:extLst>
          </p:cNvPr>
          <p:cNvSpPr txBox="1">
            <a:spLocks/>
          </p:cNvSpPr>
          <p:nvPr/>
        </p:nvSpPr>
        <p:spPr>
          <a:xfrm>
            <a:off x="1023415" y="5039857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Ответственность </a:t>
            </a:r>
            <a:r>
              <a:rPr lang="ru-RU" b="1" dirty="0"/>
              <a:t>за качество данных коллективная, а не индивидуальная</a:t>
            </a:r>
            <a:endParaRPr lang="ru-RU" dirty="0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610BD854-85F9-487F-9205-363265CD8704}"/>
              </a:ext>
            </a:extLst>
          </p:cNvPr>
          <p:cNvSpPr txBox="1">
            <a:spLocks/>
          </p:cNvSpPr>
          <p:nvPr/>
        </p:nvSpPr>
        <p:spPr>
          <a:xfrm>
            <a:off x="1023415" y="2555311"/>
            <a:ext cx="4369201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Data Quality</a:t>
            </a:r>
            <a:r>
              <a:rPr lang="ru-RU" b="1" dirty="0"/>
              <a:t> – это не разовая акция, а непрерывный процесс</a:t>
            </a:r>
            <a:endParaRPr lang="ru-RU" dirty="0"/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140027E4-C7EB-4726-B5FF-D3044B5A4A39}"/>
              </a:ext>
            </a:extLst>
          </p:cNvPr>
          <p:cNvSpPr txBox="1">
            <a:spLocks/>
          </p:cNvSpPr>
          <p:nvPr/>
        </p:nvSpPr>
        <p:spPr>
          <a:xfrm>
            <a:off x="1023415" y="5891191"/>
            <a:ext cx="5447724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Существует множество вспомогательных </a:t>
            </a:r>
            <a:r>
              <a:rPr lang="ru-RU" b="1" dirty="0">
                <a:solidFill>
                  <a:srgbClr val="FF0000"/>
                </a:solidFill>
              </a:rPr>
              <a:t>готовых инструментов</a:t>
            </a:r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24D5A1C-C62A-40B7-AF32-EEE956127CB7}"/>
              </a:ext>
            </a:extLst>
          </p:cNvPr>
          <p:cNvSpPr/>
          <p:nvPr/>
        </p:nvSpPr>
        <p:spPr>
          <a:xfrm>
            <a:off x="734245" y="1938215"/>
            <a:ext cx="163722" cy="15421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9BC5839-EE4C-4976-8827-B28297448706}"/>
              </a:ext>
            </a:extLst>
          </p:cNvPr>
          <p:cNvSpPr/>
          <p:nvPr/>
        </p:nvSpPr>
        <p:spPr>
          <a:xfrm>
            <a:off x="734245" y="2726075"/>
            <a:ext cx="163722" cy="15421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20CC334-B955-4C79-B1A5-2876A9ABB940}"/>
              </a:ext>
            </a:extLst>
          </p:cNvPr>
          <p:cNvSpPr/>
          <p:nvPr/>
        </p:nvSpPr>
        <p:spPr>
          <a:xfrm>
            <a:off x="734245" y="3495823"/>
            <a:ext cx="163722" cy="15421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09ADACDA-4BE6-4439-8AFE-D6FBCD878F9C}"/>
              </a:ext>
            </a:extLst>
          </p:cNvPr>
          <p:cNvSpPr/>
          <p:nvPr/>
        </p:nvSpPr>
        <p:spPr>
          <a:xfrm>
            <a:off x="734245" y="4364310"/>
            <a:ext cx="163722" cy="15421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5E76664-93B6-42F6-958B-8A77AA999C5B}"/>
              </a:ext>
            </a:extLst>
          </p:cNvPr>
          <p:cNvSpPr/>
          <p:nvPr/>
        </p:nvSpPr>
        <p:spPr>
          <a:xfrm>
            <a:off x="734245" y="5177692"/>
            <a:ext cx="163722" cy="15421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F1BF967-2666-4AB4-90D0-122935D04F81}"/>
              </a:ext>
            </a:extLst>
          </p:cNvPr>
          <p:cNvSpPr/>
          <p:nvPr/>
        </p:nvSpPr>
        <p:spPr>
          <a:xfrm>
            <a:off x="734245" y="6021753"/>
            <a:ext cx="163722" cy="15421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95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83688-3DDC-44B5-A119-18F02222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62" y="242443"/>
            <a:ext cx="4029637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2699</TotalTime>
  <Words>536</Words>
  <Application>Microsoft Office PowerPoint</Application>
  <PresentationFormat>Широкоэкранный</PresentationFormat>
  <Paragraphs>103</Paragraphs>
  <Slides>13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DefKorn</cp:lastModifiedBy>
  <cp:revision>312</cp:revision>
  <dcterms:created xsi:type="dcterms:W3CDTF">2025-08-19T06:56:36Z</dcterms:created>
  <dcterms:modified xsi:type="dcterms:W3CDTF">2026-03-18T07:30:55Z</dcterms:modified>
</cp:coreProperties>
</file>